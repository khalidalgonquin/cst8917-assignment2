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5" autoAdjust="0"/>
    <p:restoredTop sz="94610"/>
  </p:normalViewPr>
  <p:slideViewPr>
    <p:cSldViewPr snapToGrid="0" snapToObjects="1">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lid Amchat" userId="51a55c335fa6e025" providerId="LiveId" clId="{6873BDBF-0D51-443A-98EB-F91166261F2F}"/>
    <pc:docChg chg="custSel modSld">
      <pc:chgData name="Khalid Amchat" userId="51a55c335fa6e025" providerId="LiveId" clId="{6873BDBF-0D51-443A-98EB-F91166261F2F}" dt="2026-08-10T04:36:55.392" v="22" actId="478"/>
      <pc:docMkLst>
        <pc:docMk/>
      </pc:docMkLst>
      <pc:sldChg chg="modSp mod">
        <pc:chgData name="Khalid Amchat" userId="51a55c335fa6e025" providerId="LiveId" clId="{6873BDBF-0D51-443A-98EB-F91166261F2F}" dt="2026-08-10T03:24:08.143" v="16" actId="1076"/>
        <pc:sldMkLst>
          <pc:docMk/>
          <pc:sldMk cId="0" sldId="257"/>
        </pc:sldMkLst>
        <pc:spChg chg="mod">
          <ac:chgData name="Khalid Amchat" userId="51a55c335fa6e025" providerId="LiveId" clId="{6873BDBF-0D51-443A-98EB-F91166261F2F}" dt="2026-08-10T03:23:25.071" v="7" actId="255"/>
          <ac:spMkLst>
            <pc:docMk/>
            <pc:sldMk cId="0" sldId="257"/>
            <ac:spMk id="25" creationId="{00000000-0000-0000-0000-000000000000}"/>
          </ac:spMkLst>
        </pc:spChg>
        <pc:spChg chg="mod">
          <ac:chgData name="Khalid Amchat" userId="51a55c335fa6e025" providerId="LiveId" clId="{6873BDBF-0D51-443A-98EB-F91166261F2F}" dt="2026-08-10T03:24:08.143" v="16" actId="1076"/>
          <ac:spMkLst>
            <pc:docMk/>
            <pc:sldMk cId="0" sldId="257"/>
            <ac:spMk id="26" creationId="{00000000-0000-0000-0000-000000000000}"/>
          </ac:spMkLst>
        </pc:spChg>
        <pc:spChg chg="mod">
          <ac:chgData name="Khalid Amchat" userId="51a55c335fa6e025" providerId="LiveId" clId="{6873BDBF-0D51-443A-98EB-F91166261F2F}" dt="2026-08-10T03:23:25.071" v="7" actId="255"/>
          <ac:spMkLst>
            <pc:docMk/>
            <pc:sldMk cId="0" sldId="257"/>
            <ac:spMk id="28" creationId="{00000000-0000-0000-0000-000000000000}"/>
          </ac:spMkLst>
        </pc:spChg>
        <pc:spChg chg="mod">
          <ac:chgData name="Khalid Amchat" userId="51a55c335fa6e025" providerId="LiveId" clId="{6873BDBF-0D51-443A-98EB-F91166261F2F}" dt="2026-08-10T03:23:32.403" v="8" actId="14100"/>
          <ac:spMkLst>
            <pc:docMk/>
            <pc:sldMk cId="0" sldId="257"/>
            <ac:spMk id="29" creationId="{00000000-0000-0000-0000-000000000000}"/>
          </ac:spMkLst>
        </pc:spChg>
        <pc:spChg chg="mod">
          <ac:chgData name="Khalid Amchat" userId="51a55c335fa6e025" providerId="LiveId" clId="{6873BDBF-0D51-443A-98EB-F91166261F2F}" dt="2026-08-10T03:23:39.163" v="10" actId="14100"/>
          <ac:spMkLst>
            <pc:docMk/>
            <pc:sldMk cId="0" sldId="257"/>
            <ac:spMk id="32" creationId="{00000000-0000-0000-0000-000000000000}"/>
          </ac:spMkLst>
        </pc:spChg>
        <pc:spChg chg="mod">
          <ac:chgData name="Khalid Amchat" userId="51a55c335fa6e025" providerId="LiveId" clId="{6873BDBF-0D51-443A-98EB-F91166261F2F}" dt="2026-08-10T03:23:25.071" v="7" actId="255"/>
          <ac:spMkLst>
            <pc:docMk/>
            <pc:sldMk cId="0" sldId="257"/>
            <ac:spMk id="34" creationId="{00000000-0000-0000-0000-000000000000}"/>
          </ac:spMkLst>
        </pc:spChg>
        <pc:spChg chg="mod">
          <ac:chgData name="Khalid Amchat" userId="51a55c335fa6e025" providerId="LiveId" clId="{6873BDBF-0D51-443A-98EB-F91166261F2F}" dt="2026-08-10T03:23:55.727" v="13" actId="14100"/>
          <ac:spMkLst>
            <pc:docMk/>
            <pc:sldMk cId="0" sldId="257"/>
            <ac:spMk id="35" creationId="{00000000-0000-0000-0000-000000000000}"/>
          </ac:spMkLst>
        </pc:spChg>
        <pc:spChg chg="mod">
          <ac:chgData name="Khalid Amchat" userId="51a55c335fa6e025" providerId="LiveId" clId="{6873BDBF-0D51-443A-98EB-F91166261F2F}" dt="2026-08-10T03:23:25.071" v="7" actId="255"/>
          <ac:spMkLst>
            <pc:docMk/>
            <pc:sldMk cId="0" sldId="257"/>
            <ac:spMk id="37" creationId="{00000000-0000-0000-0000-000000000000}"/>
          </ac:spMkLst>
        </pc:spChg>
        <pc:spChg chg="mod">
          <ac:chgData name="Khalid Amchat" userId="51a55c335fa6e025" providerId="LiveId" clId="{6873BDBF-0D51-443A-98EB-F91166261F2F}" dt="2026-08-10T03:23:42.858" v="11" actId="14100"/>
          <ac:spMkLst>
            <pc:docMk/>
            <pc:sldMk cId="0" sldId="257"/>
            <ac:spMk id="38" creationId="{00000000-0000-0000-0000-000000000000}"/>
          </ac:spMkLst>
        </pc:spChg>
        <pc:spChg chg="mod">
          <ac:chgData name="Khalid Amchat" userId="51a55c335fa6e025" providerId="LiveId" clId="{6873BDBF-0D51-443A-98EB-F91166261F2F}" dt="2026-08-10T03:23:36.625" v="9" actId="14100"/>
          <ac:spMkLst>
            <pc:docMk/>
            <pc:sldMk cId="0" sldId="257"/>
            <ac:spMk id="41" creationId="{00000000-0000-0000-0000-000000000000}"/>
          </ac:spMkLst>
        </pc:spChg>
      </pc:sldChg>
      <pc:sldChg chg="delSp modSp mod">
        <pc:chgData name="Khalid Amchat" userId="51a55c335fa6e025" providerId="LiveId" clId="{6873BDBF-0D51-443A-98EB-F91166261F2F}" dt="2026-08-10T03:22:38.233" v="3" actId="1076"/>
        <pc:sldMkLst>
          <pc:docMk/>
          <pc:sldMk cId="0" sldId="258"/>
        </pc:sldMkLst>
        <pc:spChg chg="mod">
          <ac:chgData name="Khalid Amchat" userId="51a55c335fa6e025" providerId="LiveId" clId="{6873BDBF-0D51-443A-98EB-F91166261F2F}" dt="2026-08-10T03:22:24.726" v="1" actId="20577"/>
          <ac:spMkLst>
            <pc:docMk/>
            <pc:sldMk cId="0" sldId="258"/>
            <ac:spMk id="6" creationId="{00000000-0000-0000-0000-000000000000}"/>
          </ac:spMkLst>
        </pc:spChg>
        <pc:spChg chg="mod">
          <ac:chgData name="Khalid Amchat" userId="51a55c335fa6e025" providerId="LiveId" clId="{6873BDBF-0D51-443A-98EB-F91166261F2F}" dt="2026-08-10T03:22:38.233" v="3" actId="1076"/>
          <ac:spMkLst>
            <pc:docMk/>
            <pc:sldMk cId="0" sldId="258"/>
            <ac:spMk id="31" creationId="{00000000-0000-0000-0000-000000000000}"/>
          </ac:spMkLst>
        </pc:spChg>
        <pc:spChg chg="mod">
          <ac:chgData name="Khalid Amchat" userId="51a55c335fa6e025" providerId="LiveId" clId="{6873BDBF-0D51-443A-98EB-F91166261F2F}" dt="2026-08-10T03:22:38.233" v="3" actId="1076"/>
          <ac:spMkLst>
            <pc:docMk/>
            <pc:sldMk cId="0" sldId="258"/>
            <ac:spMk id="32" creationId="{00000000-0000-0000-0000-000000000000}"/>
          </ac:spMkLst>
        </pc:spChg>
        <pc:spChg chg="mod">
          <ac:chgData name="Khalid Amchat" userId="51a55c335fa6e025" providerId="LiveId" clId="{6873BDBF-0D51-443A-98EB-F91166261F2F}" dt="2026-08-10T03:22:38.233" v="3" actId="1076"/>
          <ac:spMkLst>
            <pc:docMk/>
            <pc:sldMk cId="0" sldId="258"/>
            <ac:spMk id="33" creationId="{00000000-0000-0000-0000-000000000000}"/>
          </ac:spMkLst>
        </pc:spChg>
        <pc:spChg chg="del">
          <ac:chgData name="Khalid Amchat" userId="51a55c335fa6e025" providerId="LiveId" clId="{6873BDBF-0D51-443A-98EB-F91166261F2F}" dt="2026-08-10T03:22:31.681" v="2" actId="478"/>
          <ac:spMkLst>
            <pc:docMk/>
            <pc:sldMk cId="0" sldId="258"/>
            <ac:spMk id="34" creationId="{00000000-0000-0000-0000-000000000000}"/>
          </ac:spMkLst>
        </pc:spChg>
        <pc:spChg chg="del">
          <ac:chgData name="Khalid Amchat" userId="51a55c335fa6e025" providerId="LiveId" clId="{6873BDBF-0D51-443A-98EB-F91166261F2F}" dt="2026-08-10T03:22:31.681" v="2" actId="478"/>
          <ac:spMkLst>
            <pc:docMk/>
            <pc:sldMk cId="0" sldId="258"/>
            <ac:spMk id="35" creationId="{00000000-0000-0000-0000-000000000000}"/>
          </ac:spMkLst>
        </pc:spChg>
        <pc:spChg chg="del">
          <ac:chgData name="Khalid Amchat" userId="51a55c335fa6e025" providerId="LiveId" clId="{6873BDBF-0D51-443A-98EB-F91166261F2F}" dt="2026-08-10T03:22:31.681" v="2" actId="478"/>
          <ac:spMkLst>
            <pc:docMk/>
            <pc:sldMk cId="0" sldId="258"/>
            <ac:spMk id="36" creationId="{00000000-0000-0000-0000-000000000000}"/>
          </ac:spMkLst>
        </pc:spChg>
      </pc:sldChg>
      <pc:sldChg chg="delSp modSp mod">
        <pc:chgData name="Khalid Amchat" userId="51a55c335fa6e025" providerId="LiveId" clId="{6873BDBF-0D51-443A-98EB-F91166261F2F}" dt="2026-08-10T04:08:46.275" v="19" actId="478"/>
        <pc:sldMkLst>
          <pc:docMk/>
          <pc:sldMk cId="0" sldId="261"/>
        </pc:sldMkLst>
        <pc:spChg chg="del">
          <ac:chgData name="Khalid Amchat" userId="51a55c335fa6e025" providerId="LiveId" clId="{6873BDBF-0D51-443A-98EB-F91166261F2F}" dt="2026-08-10T04:08:46.275" v="19" actId="478"/>
          <ac:spMkLst>
            <pc:docMk/>
            <pc:sldMk cId="0" sldId="261"/>
            <ac:spMk id="6" creationId="{00000000-0000-0000-0000-000000000000}"/>
          </ac:spMkLst>
        </pc:spChg>
        <pc:spChg chg="mod">
          <ac:chgData name="Khalid Amchat" userId="51a55c335fa6e025" providerId="LiveId" clId="{6873BDBF-0D51-443A-98EB-F91166261F2F}" dt="2026-08-10T04:08:37.241" v="18" actId="255"/>
          <ac:spMkLst>
            <pc:docMk/>
            <pc:sldMk cId="0" sldId="261"/>
            <ac:spMk id="9" creationId="{00000000-0000-0000-0000-000000000000}"/>
          </ac:spMkLst>
        </pc:spChg>
        <pc:spChg chg="mod">
          <ac:chgData name="Khalid Amchat" userId="51a55c335fa6e025" providerId="LiveId" clId="{6873BDBF-0D51-443A-98EB-F91166261F2F}" dt="2026-08-10T04:08:37.241" v="18" actId="255"/>
          <ac:spMkLst>
            <pc:docMk/>
            <pc:sldMk cId="0" sldId="261"/>
            <ac:spMk id="11" creationId="{00000000-0000-0000-0000-000000000000}"/>
          </ac:spMkLst>
        </pc:spChg>
        <pc:spChg chg="mod">
          <ac:chgData name="Khalid Amchat" userId="51a55c335fa6e025" providerId="LiveId" clId="{6873BDBF-0D51-443A-98EB-F91166261F2F}" dt="2026-08-10T04:08:37.241" v="18" actId="255"/>
          <ac:spMkLst>
            <pc:docMk/>
            <pc:sldMk cId="0" sldId="261"/>
            <ac:spMk id="14" creationId="{00000000-0000-0000-0000-000000000000}"/>
          </ac:spMkLst>
        </pc:spChg>
        <pc:spChg chg="mod">
          <ac:chgData name="Khalid Amchat" userId="51a55c335fa6e025" providerId="LiveId" clId="{6873BDBF-0D51-443A-98EB-F91166261F2F}" dt="2026-08-10T04:08:37.241" v="18" actId="255"/>
          <ac:spMkLst>
            <pc:docMk/>
            <pc:sldMk cId="0" sldId="261"/>
            <ac:spMk id="15" creationId="{00000000-0000-0000-0000-000000000000}"/>
          </ac:spMkLst>
        </pc:spChg>
        <pc:spChg chg="mod">
          <ac:chgData name="Khalid Amchat" userId="51a55c335fa6e025" providerId="LiveId" clId="{6873BDBF-0D51-443A-98EB-F91166261F2F}" dt="2026-08-10T04:08:37.241" v="18" actId="255"/>
          <ac:spMkLst>
            <pc:docMk/>
            <pc:sldMk cId="0" sldId="261"/>
            <ac:spMk id="19" creationId="{00000000-0000-0000-0000-000000000000}"/>
          </ac:spMkLst>
        </pc:spChg>
        <pc:spChg chg="mod">
          <ac:chgData name="Khalid Amchat" userId="51a55c335fa6e025" providerId="LiveId" clId="{6873BDBF-0D51-443A-98EB-F91166261F2F}" dt="2026-08-10T04:08:37.241" v="18" actId="255"/>
          <ac:spMkLst>
            <pc:docMk/>
            <pc:sldMk cId="0" sldId="261"/>
            <ac:spMk id="20" creationId="{00000000-0000-0000-0000-000000000000}"/>
          </ac:spMkLst>
        </pc:spChg>
        <pc:spChg chg="mod">
          <ac:chgData name="Khalid Amchat" userId="51a55c335fa6e025" providerId="LiveId" clId="{6873BDBF-0D51-443A-98EB-F91166261F2F}" dt="2026-08-10T04:08:37.241" v="18" actId="255"/>
          <ac:spMkLst>
            <pc:docMk/>
            <pc:sldMk cId="0" sldId="261"/>
            <ac:spMk id="21" creationId="{00000000-0000-0000-0000-000000000000}"/>
          </ac:spMkLst>
        </pc:spChg>
        <pc:spChg chg="mod">
          <ac:chgData name="Khalid Amchat" userId="51a55c335fa6e025" providerId="LiveId" clId="{6873BDBF-0D51-443A-98EB-F91166261F2F}" dt="2026-08-10T04:08:37.241" v="18" actId="255"/>
          <ac:spMkLst>
            <pc:docMk/>
            <pc:sldMk cId="0" sldId="261"/>
            <ac:spMk id="25" creationId="{00000000-0000-0000-0000-000000000000}"/>
          </ac:spMkLst>
        </pc:spChg>
        <pc:spChg chg="mod">
          <ac:chgData name="Khalid Amchat" userId="51a55c335fa6e025" providerId="LiveId" clId="{6873BDBF-0D51-443A-98EB-F91166261F2F}" dt="2026-08-10T04:08:37.241" v="18" actId="255"/>
          <ac:spMkLst>
            <pc:docMk/>
            <pc:sldMk cId="0" sldId="261"/>
            <ac:spMk id="26" creationId="{00000000-0000-0000-0000-000000000000}"/>
          </ac:spMkLst>
        </pc:spChg>
        <pc:spChg chg="mod">
          <ac:chgData name="Khalid Amchat" userId="51a55c335fa6e025" providerId="LiveId" clId="{6873BDBF-0D51-443A-98EB-F91166261F2F}" dt="2026-08-10T04:08:37.241" v="18" actId="255"/>
          <ac:spMkLst>
            <pc:docMk/>
            <pc:sldMk cId="0" sldId="261"/>
            <ac:spMk id="31" creationId="{00000000-0000-0000-0000-000000000000}"/>
          </ac:spMkLst>
        </pc:spChg>
      </pc:sldChg>
      <pc:sldChg chg="delSp modSp mod">
        <pc:chgData name="Khalid Amchat" userId="51a55c335fa6e025" providerId="LiveId" clId="{6873BDBF-0D51-443A-98EB-F91166261F2F}" dt="2026-08-10T04:36:55.392" v="22" actId="478"/>
        <pc:sldMkLst>
          <pc:docMk/>
          <pc:sldMk cId="0" sldId="266"/>
        </pc:sldMkLst>
        <pc:spChg chg="del">
          <ac:chgData name="Khalid Amchat" userId="51a55c335fa6e025" providerId="LiveId" clId="{6873BDBF-0D51-443A-98EB-F91166261F2F}" dt="2026-08-10T04:35:44.352" v="20" actId="478"/>
          <ac:spMkLst>
            <pc:docMk/>
            <pc:sldMk cId="0" sldId="266"/>
            <ac:spMk id="7" creationId="{00000000-0000-0000-0000-000000000000}"/>
          </ac:spMkLst>
        </pc:spChg>
        <pc:spChg chg="del">
          <ac:chgData name="Khalid Amchat" userId="51a55c335fa6e025" providerId="LiveId" clId="{6873BDBF-0D51-443A-98EB-F91166261F2F}" dt="2026-08-10T04:35:44.352" v="20" actId="478"/>
          <ac:spMkLst>
            <pc:docMk/>
            <pc:sldMk cId="0" sldId="266"/>
            <ac:spMk id="8" creationId="{00000000-0000-0000-0000-000000000000}"/>
          </ac:spMkLst>
        </pc:spChg>
        <pc:spChg chg="del">
          <ac:chgData name="Khalid Amchat" userId="51a55c335fa6e025" providerId="LiveId" clId="{6873BDBF-0D51-443A-98EB-F91166261F2F}" dt="2026-08-10T04:35:44.352" v="20" actId="478"/>
          <ac:spMkLst>
            <pc:docMk/>
            <pc:sldMk cId="0" sldId="266"/>
            <ac:spMk id="9" creationId="{00000000-0000-0000-0000-000000000000}"/>
          </ac:spMkLst>
        </pc:spChg>
        <pc:spChg chg="mod">
          <ac:chgData name="Khalid Amchat" userId="51a55c335fa6e025" providerId="LiveId" clId="{6873BDBF-0D51-443A-98EB-F91166261F2F}" dt="2026-08-10T04:35:56.005" v="21" actId="1076"/>
          <ac:spMkLst>
            <pc:docMk/>
            <pc:sldMk cId="0" sldId="266"/>
            <ac:spMk id="10" creationId="{00000000-0000-0000-0000-000000000000}"/>
          </ac:spMkLst>
        </pc:spChg>
        <pc:spChg chg="mod">
          <ac:chgData name="Khalid Amchat" userId="51a55c335fa6e025" providerId="LiveId" clId="{6873BDBF-0D51-443A-98EB-F91166261F2F}" dt="2026-08-10T04:35:56.005" v="21" actId="1076"/>
          <ac:spMkLst>
            <pc:docMk/>
            <pc:sldMk cId="0" sldId="266"/>
            <ac:spMk id="11" creationId="{00000000-0000-0000-0000-000000000000}"/>
          </ac:spMkLst>
        </pc:spChg>
        <pc:spChg chg="mod">
          <ac:chgData name="Khalid Amchat" userId="51a55c335fa6e025" providerId="LiveId" clId="{6873BDBF-0D51-443A-98EB-F91166261F2F}" dt="2026-08-10T04:35:56.005" v="21" actId="1076"/>
          <ac:spMkLst>
            <pc:docMk/>
            <pc:sldMk cId="0" sldId="266"/>
            <ac:spMk id="12" creationId="{00000000-0000-0000-0000-000000000000}"/>
          </ac:spMkLst>
        </pc:spChg>
        <pc:spChg chg="del">
          <ac:chgData name="Khalid Amchat" userId="51a55c335fa6e025" providerId="LiveId" clId="{6873BDBF-0D51-443A-98EB-F91166261F2F}" dt="2026-08-10T04:36:55.392" v="22" actId="478"/>
          <ac:spMkLst>
            <pc:docMk/>
            <pc:sldMk cId="0" sldId="266"/>
            <ac:spMk id="16" creationId="{00000000-0000-0000-0000-000000000000}"/>
          </ac:spMkLst>
        </pc:spChg>
        <pc:spChg chg="del">
          <ac:chgData name="Khalid Amchat" userId="51a55c335fa6e025" providerId="LiveId" clId="{6873BDBF-0D51-443A-98EB-F91166261F2F}" dt="2026-08-10T04:36:55.392" v="22" actId="478"/>
          <ac:spMkLst>
            <pc:docMk/>
            <pc:sldMk cId="0" sldId="266"/>
            <ac:spMk id="17" creationId="{00000000-0000-0000-0000-000000000000}"/>
          </ac:spMkLst>
        </pc:spChg>
        <pc:spChg chg="del">
          <ac:chgData name="Khalid Amchat" userId="51a55c335fa6e025" providerId="LiveId" clId="{6873BDBF-0D51-443A-98EB-F91166261F2F}" dt="2026-08-10T04:36:55.392" v="22" actId="478"/>
          <ac:spMkLst>
            <pc:docMk/>
            <pc:sldMk cId="0" sldId="266"/>
            <ac:spMk id="1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125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assignment: same expense workflow, two Azure serverless approaches. State that the goal was not only to make both work, but to compare development experience, testing, error handling, human interaction, observability, and cost.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workflow rules. Emphasize that both implementations are judged using the same six scenarios, including automatic approval, manager approval, manager rejection, timeout escalation, missing fields, and invalid category.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Durable Functions design: the HTTP starter creates an orchestration; the orchestrator validates, checks amount, waits for manager event or timer, processes outcome, and notifies the employee. Highlight that external work is done in activities to keep the orchestrator deterministic.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transition to the live Durable Functions demo. Show the HTTP file, submit automatic approval, manager approve, manager reject, and timeout. If time is tight, show one or two live and the rest as saved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Version B uses Service Bus queue for incoming requests, Logic App for orchestration, a Function for validation, and a Service Bus topic for final outcome routing. Emphasize the application property outcome because that was important for filters.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design decisions and the specific fixes: HTTP call instead of native function connector due custom route, explicit Service Bus application properties, separate timeout branch, and final merge action.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your roadmap during recording. Do not try to live-demo every scenario if time is tight; show at least one complete success for each implementation, the timeout, and mention saved screenshots for the remaining cases.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dimension quickly. The key message is not that one is always better, but that Durable Functions gave stronger code-level control and local testability, while Logic Apps gave stronger visual observability and connector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numbers are estimates using the assumptions from the README. Durable Functions benefits from consumption/free grant and low compute during waits. Logic Apps incurs action and connector costs plus Service Bus Standard base.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verdict clearly: for this specific workflow, choose Durable Functions because the human interaction pattern is cleaner and more testable. Choose Logic Apps when visual management and connectors are more important.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practical lessons from troubleshooting. Emphasize that these are based on actual errors encountered during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Mention that the repository contains the full README, code, test files, screenshot evidence, and video link.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3" name="Shape 1"/>
          <p:cNvSpPr/>
          <p:nvPr/>
        </p:nvSpPr>
        <p:spPr>
          <a:xfrm>
            <a:off x="8046720" y="0"/>
            <a:ext cx="4142232" cy="6858000"/>
          </a:xfrm>
          <a:prstGeom prst="rect">
            <a:avLst/>
          </a:prstGeom>
          <a:solidFill>
            <a:srgbClr val="0F355A"/>
          </a:solidFill>
          <a:ln w="12700">
            <a:solidFill>
              <a:srgbClr val="0F355A">
                <a:alpha val="0"/>
              </a:srgbClr>
            </a:solidFill>
            <a:prstDash val="solid"/>
          </a:ln>
        </p:spPr>
      </p:sp>
      <p:sp>
        <p:nvSpPr>
          <p:cNvPr id="4" name="Text 2"/>
          <p:cNvSpPr/>
          <p:nvPr/>
        </p:nvSpPr>
        <p:spPr>
          <a:xfrm>
            <a:off x="748937" y="799012"/>
            <a:ext cx="6812280" cy="1987731"/>
          </a:xfrm>
          <a:prstGeom prst="rect">
            <a:avLst/>
          </a:prstGeom>
          <a:noFill/>
          <a:ln/>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Assignment 2:</a:t>
            </a:r>
          </a:p>
          <a:p>
            <a:pPr marL="0" indent="0">
              <a:buNone/>
            </a:pPr>
            <a:r>
              <a:rPr lang="en-US" sz="3800" b="1" dirty="0">
                <a:solidFill>
                  <a:srgbClr val="FFFFFF"/>
                </a:solidFill>
                <a:latin typeface="Aptos Display" pitchFamily="34" charset="0"/>
                <a:ea typeface="Aptos Display" pitchFamily="34" charset="-122"/>
                <a:cs typeface="Aptos Display" pitchFamily="34" charset="-120"/>
              </a:rPr>
              <a:t>Dual Implementation of an</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Expense Approval Workflow</a:t>
            </a:r>
            <a:endParaRPr lang="en-US" sz="3800" dirty="0"/>
          </a:p>
        </p:txBody>
      </p:sp>
      <p:sp>
        <p:nvSpPr>
          <p:cNvPr id="5" name="Text 3"/>
          <p:cNvSpPr/>
          <p:nvPr/>
        </p:nvSpPr>
        <p:spPr>
          <a:xfrm>
            <a:off x="777240" y="2743200"/>
            <a:ext cx="6217920" cy="329184"/>
          </a:xfrm>
          <a:prstGeom prst="rect">
            <a:avLst/>
          </a:prstGeom>
          <a:noFill/>
          <a:ln/>
        </p:spPr>
        <p:txBody>
          <a:bodyPr wrap="square" lIns="0" tIns="0" rIns="0" bIns="0" rtlCol="0" anchor="ctr"/>
          <a:lstStyle/>
          <a:p>
            <a:pPr marL="0" indent="0">
              <a:buNone/>
            </a:pPr>
            <a:r>
              <a:rPr lang="en-US" sz="1600" dirty="0">
                <a:solidFill>
                  <a:srgbClr val="CFE8FF"/>
                </a:solidFill>
              </a:rPr>
              <a:t>Azure Durable Functions vs. Azure Logic Apps</a:t>
            </a:r>
            <a:endParaRPr lang="en-US" sz="1600" dirty="0"/>
          </a:p>
        </p:txBody>
      </p:sp>
      <p:sp>
        <p:nvSpPr>
          <p:cNvPr id="6" name="Shape 4"/>
          <p:cNvSpPr/>
          <p:nvPr/>
        </p:nvSpPr>
        <p:spPr>
          <a:xfrm>
            <a:off x="759823" y="3909113"/>
            <a:ext cx="3629298" cy="329184"/>
          </a:xfrm>
          <a:prstGeom prst="roundRect">
            <a:avLst>
              <a:gd name="adj" fmla="val 23529"/>
            </a:avLst>
          </a:prstGeom>
          <a:solidFill>
            <a:srgbClr val="14375B"/>
          </a:solidFill>
          <a:ln w="12700">
            <a:solidFill>
              <a:srgbClr val="FFFFFF"/>
            </a:solidFill>
            <a:prstDash val="solid"/>
          </a:ln>
        </p:spPr>
      </p:sp>
      <p:sp>
        <p:nvSpPr>
          <p:cNvPr id="7" name="Text 5"/>
          <p:cNvSpPr/>
          <p:nvPr/>
        </p:nvSpPr>
        <p:spPr>
          <a:xfrm>
            <a:off x="857795" y="3895098"/>
            <a:ext cx="3433354" cy="310896"/>
          </a:xfrm>
          <a:prstGeom prst="rect">
            <a:avLst/>
          </a:prstGeom>
          <a:noFill/>
          <a:ln/>
        </p:spPr>
        <p:txBody>
          <a:bodyPr wrap="square" lIns="0" tIns="0" rIns="0" bIns="0" rtlCol="0" anchor="ctr"/>
          <a:lstStyle/>
          <a:p>
            <a:pPr algn="ctr"/>
            <a:r>
              <a:rPr lang="en-US" sz="1400" b="1" dirty="0">
                <a:solidFill>
                  <a:srgbClr val="FFFFFF"/>
                </a:solidFill>
              </a:rPr>
              <a:t>Course: CST8917 - Serverless Applications</a:t>
            </a:r>
            <a:endParaRPr lang="en-US" sz="1400" dirty="0"/>
          </a:p>
        </p:txBody>
      </p:sp>
      <p:sp>
        <p:nvSpPr>
          <p:cNvPr id="8" name="Shape 6"/>
          <p:cNvSpPr/>
          <p:nvPr/>
        </p:nvSpPr>
        <p:spPr>
          <a:xfrm>
            <a:off x="759823" y="4454379"/>
            <a:ext cx="2270760" cy="329183"/>
          </a:xfrm>
          <a:prstGeom prst="roundRect">
            <a:avLst>
              <a:gd name="adj" fmla="val 23529"/>
            </a:avLst>
          </a:prstGeom>
          <a:solidFill>
            <a:srgbClr val="14375B"/>
          </a:solidFill>
          <a:ln w="12700">
            <a:solidFill>
              <a:srgbClr val="FFFFFF"/>
            </a:solidFill>
            <a:prstDash val="solid"/>
          </a:ln>
        </p:spPr>
      </p:sp>
      <p:sp>
        <p:nvSpPr>
          <p:cNvPr id="9" name="Text 7"/>
          <p:cNvSpPr/>
          <p:nvPr/>
        </p:nvSpPr>
        <p:spPr>
          <a:xfrm>
            <a:off x="539932" y="4472993"/>
            <a:ext cx="2647406" cy="242316"/>
          </a:xfrm>
          <a:prstGeom prst="rect">
            <a:avLst/>
          </a:prstGeom>
          <a:noFill/>
          <a:ln/>
        </p:spPr>
        <p:txBody>
          <a:bodyPr wrap="square" lIns="0" tIns="0" rIns="0" bIns="0" rtlCol="0" anchor="ctr"/>
          <a:lstStyle/>
          <a:p>
            <a:pPr marL="0" indent="0" algn="ctr">
              <a:buNone/>
            </a:pPr>
            <a:r>
              <a:rPr lang="en-US" sz="1400" b="1" dirty="0">
                <a:solidFill>
                  <a:srgbClr val="FFFFFF"/>
                </a:solidFill>
              </a:rPr>
              <a:t>Student : Khalid Amchat</a:t>
            </a:r>
            <a:endParaRPr lang="en-US" sz="1400" dirty="0"/>
          </a:p>
        </p:txBody>
      </p:sp>
      <p:sp>
        <p:nvSpPr>
          <p:cNvPr id="10" name="Shape 8"/>
          <p:cNvSpPr/>
          <p:nvPr/>
        </p:nvSpPr>
        <p:spPr>
          <a:xfrm>
            <a:off x="759823" y="4969436"/>
            <a:ext cx="1103812" cy="329182"/>
          </a:xfrm>
          <a:prstGeom prst="roundRect">
            <a:avLst>
              <a:gd name="adj" fmla="val 23529"/>
            </a:avLst>
          </a:prstGeom>
          <a:solidFill>
            <a:srgbClr val="14375B"/>
          </a:solidFill>
          <a:ln w="12700">
            <a:solidFill>
              <a:srgbClr val="FFFFFF"/>
            </a:solidFill>
            <a:prstDash val="solid"/>
          </a:ln>
        </p:spPr>
      </p:sp>
      <p:sp>
        <p:nvSpPr>
          <p:cNvPr id="11" name="Text 9"/>
          <p:cNvSpPr/>
          <p:nvPr/>
        </p:nvSpPr>
        <p:spPr>
          <a:xfrm>
            <a:off x="509452" y="5015481"/>
            <a:ext cx="1604553" cy="237091"/>
          </a:xfrm>
          <a:prstGeom prst="rect">
            <a:avLst/>
          </a:prstGeom>
          <a:noFill/>
          <a:ln/>
        </p:spPr>
        <p:txBody>
          <a:bodyPr wrap="square" lIns="0" tIns="0" rIns="0" bIns="0" rtlCol="0" anchor="ctr"/>
          <a:lstStyle/>
          <a:p>
            <a:pPr marL="0" indent="0" algn="ctr">
              <a:buNone/>
            </a:pPr>
            <a:r>
              <a:rPr lang="en-US" sz="1400" b="1" dirty="0">
                <a:solidFill>
                  <a:srgbClr val="FFFFFF"/>
                </a:solidFill>
              </a:rPr>
              <a:t>Term: S26</a:t>
            </a:r>
            <a:endParaRPr lang="en-US" sz="1400" dirty="0"/>
          </a:p>
        </p:txBody>
      </p:sp>
      <p:sp>
        <p:nvSpPr>
          <p:cNvPr id="13" name="Shape 11"/>
          <p:cNvSpPr/>
          <p:nvPr/>
        </p:nvSpPr>
        <p:spPr>
          <a:xfrm>
            <a:off x="8549640" y="1531838"/>
            <a:ext cx="2651760" cy="1188720"/>
          </a:xfrm>
          <a:prstGeom prst="roundRect">
            <a:avLst>
              <a:gd name="adj" fmla="val 9231"/>
            </a:avLst>
          </a:prstGeom>
          <a:solidFill>
            <a:srgbClr val="14375B"/>
          </a:solidFill>
          <a:ln w="12700">
            <a:solidFill>
              <a:srgbClr val="4BA3F6"/>
            </a:solidFill>
            <a:prstDash val="solid"/>
          </a:ln>
        </p:spPr>
      </p:sp>
      <p:sp>
        <p:nvSpPr>
          <p:cNvPr id="14" name="Text 12"/>
          <p:cNvSpPr/>
          <p:nvPr/>
        </p:nvSpPr>
        <p:spPr>
          <a:xfrm>
            <a:off x="8745583" y="1929384"/>
            <a:ext cx="502920" cy="347472"/>
          </a:xfrm>
          <a:prstGeom prst="rect">
            <a:avLst/>
          </a:prstGeom>
          <a:noFill/>
          <a:ln/>
        </p:spPr>
        <p:txBody>
          <a:bodyPr wrap="square" lIns="0" tIns="0" rIns="0" bIns="0" rtlCol="0" anchor="ctr"/>
          <a:lstStyle/>
          <a:p>
            <a:pPr marL="0" indent="0" algn="ctr">
              <a:buNone/>
            </a:pPr>
            <a:r>
              <a:rPr lang="en-US" sz="2400" b="1" dirty="0">
                <a:solidFill>
                  <a:srgbClr val="FFFFFF"/>
                </a:solidFill>
              </a:rPr>
              <a:t>A</a:t>
            </a:r>
            <a:endParaRPr lang="en-US" sz="2400" dirty="0"/>
          </a:p>
        </p:txBody>
      </p:sp>
      <p:sp>
        <p:nvSpPr>
          <p:cNvPr id="15" name="Text 13"/>
          <p:cNvSpPr/>
          <p:nvPr/>
        </p:nvSpPr>
        <p:spPr>
          <a:xfrm>
            <a:off x="9322090" y="1897380"/>
            <a:ext cx="1591491" cy="411480"/>
          </a:xfrm>
          <a:prstGeom prst="rect">
            <a:avLst/>
          </a:prstGeom>
          <a:noFill/>
          <a:ln/>
        </p:spPr>
        <p:txBody>
          <a:bodyPr wrap="square" lIns="0" tIns="0" rIns="0" bIns="0" rtlCol="0" anchor="ctr"/>
          <a:lstStyle/>
          <a:p>
            <a:pPr marL="0" indent="0" algn="ctr">
              <a:buNone/>
            </a:pPr>
            <a:r>
              <a:rPr lang="en-US" sz="1400" dirty="0">
                <a:solidFill>
                  <a:srgbClr val="FFFFFF"/>
                </a:solidFill>
              </a:rPr>
              <a:t>Durable Functions</a:t>
            </a:r>
            <a:endParaRPr lang="en-US" sz="1400" dirty="0"/>
          </a:p>
          <a:p>
            <a:pPr marL="0" indent="0" algn="ctr">
              <a:buNone/>
            </a:pPr>
            <a:r>
              <a:rPr lang="en-US" sz="1400" dirty="0">
                <a:solidFill>
                  <a:srgbClr val="FFFFFF"/>
                </a:solidFill>
              </a:rPr>
              <a:t>Code-first orchestration</a:t>
            </a:r>
            <a:endParaRPr lang="en-US" sz="1400" dirty="0"/>
          </a:p>
        </p:txBody>
      </p:sp>
      <p:sp>
        <p:nvSpPr>
          <p:cNvPr id="16" name="Shape 14"/>
          <p:cNvSpPr/>
          <p:nvPr/>
        </p:nvSpPr>
        <p:spPr>
          <a:xfrm>
            <a:off x="8549640" y="3246120"/>
            <a:ext cx="2651760" cy="1188720"/>
          </a:xfrm>
          <a:prstGeom prst="roundRect">
            <a:avLst>
              <a:gd name="adj" fmla="val 9231"/>
            </a:avLst>
          </a:prstGeom>
          <a:solidFill>
            <a:srgbClr val="123D2A"/>
          </a:solidFill>
          <a:ln w="12700">
            <a:solidFill>
              <a:srgbClr val="52C41A"/>
            </a:solidFill>
            <a:prstDash val="solid"/>
          </a:ln>
        </p:spPr>
      </p:sp>
      <p:sp>
        <p:nvSpPr>
          <p:cNvPr id="17" name="Text 15"/>
          <p:cNvSpPr/>
          <p:nvPr/>
        </p:nvSpPr>
        <p:spPr>
          <a:xfrm>
            <a:off x="8745583" y="3666744"/>
            <a:ext cx="502920" cy="347472"/>
          </a:xfrm>
          <a:prstGeom prst="rect">
            <a:avLst/>
          </a:prstGeom>
          <a:noFill/>
          <a:ln/>
        </p:spPr>
        <p:txBody>
          <a:bodyPr wrap="square" lIns="0" tIns="0" rIns="0" bIns="0" rtlCol="0" anchor="ctr"/>
          <a:lstStyle/>
          <a:p>
            <a:pPr marL="0" indent="0" algn="ctr">
              <a:buNone/>
            </a:pPr>
            <a:r>
              <a:rPr lang="en-US" sz="2400" b="1" dirty="0">
                <a:solidFill>
                  <a:srgbClr val="FFFFFF"/>
                </a:solidFill>
              </a:rPr>
              <a:t>B</a:t>
            </a:r>
            <a:endParaRPr lang="en-US" sz="2400" dirty="0"/>
          </a:p>
        </p:txBody>
      </p:sp>
      <p:sp>
        <p:nvSpPr>
          <p:cNvPr id="18" name="Text 16"/>
          <p:cNvSpPr/>
          <p:nvPr/>
        </p:nvSpPr>
        <p:spPr>
          <a:xfrm>
            <a:off x="9347344" y="3548743"/>
            <a:ext cx="1540981" cy="411480"/>
          </a:xfrm>
          <a:prstGeom prst="rect">
            <a:avLst/>
          </a:prstGeom>
          <a:noFill/>
          <a:ln/>
        </p:spPr>
        <p:txBody>
          <a:bodyPr wrap="square" lIns="0" tIns="0" rIns="0" bIns="0" rtlCol="0" anchor="ctr"/>
          <a:lstStyle/>
          <a:p>
            <a:pPr marL="0" indent="0" algn="ctr">
              <a:buNone/>
            </a:pPr>
            <a:r>
              <a:rPr lang="en-US" sz="1400" dirty="0">
                <a:solidFill>
                  <a:srgbClr val="FFFFFF"/>
                </a:solidFill>
              </a:rPr>
              <a:t>Logic Apps</a:t>
            </a:r>
            <a:endParaRPr lang="en-US" sz="1400" dirty="0"/>
          </a:p>
          <a:p>
            <a:pPr marL="0" indent="0" algn="ctr">
              <a:buNone/>
            </a:pPr>
            <a:r>
              <a:rPr lang="en-US" sz="1400" dirty="0">
                <a:solidFill>
                  <a:srgbClr val="FFFFFF"/>
                </a:solidFill>
              </a:rPr>
              <a:t>Visual orchestration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Workflow and business rules</a:t>
            </a:r>
            <a:endParaRPr lang="en-US" sz="3000" dirty="0"/>
          </a:p>
        </p:txBody>
      </p:sp>
      <p:sp>
        <p:nvSpPr>
          <p:cNvPr id="6" name="Text 4"/>
          <p:cNvSpPr/>
          <p:nvPr/>
        </p:nvSpPr>
        <p:spPr>
          <a:xfrm>
            <a:off x="530352" y="822960"/>
            <a:ext cx="9144000" cy="274320"/>
          </a:xfrm>
          <a:prstGeom prst="rect">
            <a:avLst/>
          </a:prstGeom>
          <a:noFill/>
          <a:ln/>
        </p:spPr>
        <p:txBody>
          <a:bodyPr wrap="square" lIns="0" tIns="0" rIns="0" bIns="0" rtlCol="0" anchor="ctr"/>
          <a:lstStyle/>
          <a:p>
            <a:pPr marL="0" indent="0">
              <a:buNone/>
            </a:pPr>
            <a:r>
              <a:rPr lang="en-US" sz="1250" dirty="0">
                <a:solidFill>
                  <a:srgbClr val="64748B"/>
                </a:solidFill>
              </a:rPr>
              <a:t>Same functional requirements implemented twice</a:t>
            </a:r>
            <a:endParaRPr lang="en-US" sz="1250" dirty="0"/>
          </a:p>
        </p:txBody>
      </p:sp>
      <p:sp>
        <p:nvSpPr>
          <p:cNvPr id="7" name="Shape 5"/>
          <p:cNvSpPr/>
          <p:nvPr/>
        </p:nvSpPr>
        <p:spPr>
          <a:xfrm>
            <a:off x="1874520" y="2240280"/>
            <a:ext cx="347472" cy="0"/>
          </a:xfrm>
          <a:prstGeom prst="line">
            <a:avLst/>
          </a:prstGeom>
          <a:noFill/>
          <a:ln w="19050">
            <a:solidFill>
              <a:srgbClr val="0078D4"/>
            </a:solidFill>
            <a:prstDash val="solid"/>
            <a:headEnd type="none"/>
            <a:tailEnd type="triangle"/>
          </a:ln>
        </p:spPr>
      </p:sp>
      <p:sp>
        <p:nvSpPr>
          <p:cNvPr id="8" name="Shape 6"/>
          <p:cNvSpPr/>
          <p:nvPr/>
        </p:nvSpPr>
        <p:spPr>
          <a:xfrm>
            <a:off x="3566160" y="2240280"/>
            <a:ext cx="484632" cy="0"/>
          </a:xfrm>
          <a:prstGeom prst="line">
            <a:avLst/>
          </a:prstGeom>
          <a:noFill/>
          <a:ln w="19050">
            <a:solidFill>
              <a:srgbClr val="0078D4"/>
            </a:solidFill>
            <a:prstDash val="solid"/>
            <a:headEnd type="none"/>
            <a:tailEnd type="triangle"/>
          </a:ln>
        </p:spPr>
      </p:sp>
      <p:sp>
        <p:nvSpPr>
          <p:cNvPr id="9" name="Shape 7"/>
          <p:cNvSpPr/>
          <p:nvPr/>
        </p:nvSpPr>
        <p:spPr>
          <a:xfrm>
            <a:off x="5394960" y="2240280"/>
            <a:ext cx="484632" cy="0"/>
          </a:xfrm>
          <a:prstGeom prst="line">
            <a:avLst/>
          </a:prstGeom>
          <a:noFill/>
          <a:ln w="19050">
            <a:solidFill>
              <a:srgbClr val="0078D4"/>
            </a:solidFill>
            <a:prstDash val="solid"/>
            <a:headEnd type="none"/>
            <a:tailEnd type="triangle"/>
          </a:ln>
        </p:spPr>
      </p:sp>
      <p:sp>
        <p:nvSpPr>
          <p:cNvPr id="10" name="Shape 8"/>
          <p:cNvSpPr/>
          <p:nvPr/>
        </p:nvSpPr>
        <p:spPr>
          <a:xfrm>
            <a:off x="7223760" y="2240280"/>
            <a:ext cx="576072" cy="0"/>
          </a:xfrm>
          <a:prstGeom prst="line">
            <a:avLst/>
          </a:prstGeom>
          <a:noFill/>
          <a:ln w="19050">
            <a:solidFill>
              <a:srgbClr val="0078D4"/>
            </a:solidFill>
            <a:prstDash val="solid"/>
            <a:headEnd type="none"/>
            <a:tailEnd type="triangle"/>
          </a:ln>
        </p:spPr>
      </p:sp>
      <p:sp>
        <p:nvSpPr>
          <p:cNvPr id="11" name="Shape 9"/>
          <p:cNvSpPr/>
          <p:nvPr/>
        </p:nvSpPr>
        <p:spPr>
          <a:xfrm>
            <a:off x="9144000" y="2240280"/>
            <a:ext cx="758952" cy="0"/>
          </a:xfrm>
          <a:prstGeom prst="line">
            <a:avLst/>
          </a:prstGeom>
          <a:noFill/>
          <a:ln w="19050">
            <a:solidFill>
              <a:srgbClr val="0078D4"/>
            </a:solidFill>
            <a:prstDash val="solid"/>
            <a:headEnd type="none"/>
            <a:tailEnd type="triangle"/>
          </a:ln>
        </p:spPr>
      </p:sp>
      <p:sp>
        <p:nvSpPr>
          <p:cNvPr id="12" name="Shape 10"/>
          <p:cNvSpPr/>
          <p:nvPr/>
        </p:nvSpPr>
        <p:spPr>
          <a:xfrm>
            <a:off x="640080" y="1874520"/>
            <a:ext cx="1325880" cy="713232"/>
          </a:xfrm>
          <a:prstGeom prst="roundRect">
            <a:avLst>
              <a:gd name="adj" fmla="val 15385"/>
            </a:avLst>
          </a:prstGeom>
          <a:solidFill>
            <a:srgbClr val="EAF4FF"/>
          </a:solidFill>
          <a:ln w="12700">
            <a:solidFill>
              <a:srgbClr val="0078D4"/>
            </a:solidFill>
            <a:prstDash val="solid"/>
          </a:ln>
        </p:spPr>
      </p:sp>
      <p:sp>
        <p:nvSpPr>
          <p:cNvPr id="13" name="Text 11"/>
          <p:cNvSpPr/>
          <p:nvPr/>
        </p:nvSpPr>
        <p:spPr>
          <a:xfrm>
            <a:off x="74980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Submit</a:t>
            </a:r>
            <a:endParaRPr lang="en-US" sz="1050" dirty="0"/>
          </a:p>
          <a:p>
            <a:pPr marL="0" indent="0" algn="ctr">
              <a:buNone/>
            </a:pPr>
            <a:r>
              <a:rPr lang="en-US" sz="1050" b="1" dirty="0">
                <a:solidFill>
                  <a:srgbClr val="1F2937"/>
                </a:solidFill>
              </a:rPr>
              <a:t>expense</a:t>
            </a:r>
            <a:endParaRPr lang="en-US" sz="1050" dirty="0"/>
          </a:p>
        </p:txBody>
      </p:sp>
      <p:sp>
        <p:nvSpPr>
          <p:cNvPr id="14" name="Shape 12"/>
          <p:cNvSpPr/>
          <p:nvPr/>
        </p:nvSpPr>
        <p:spPr>
          <a:xfrm>
            <a:off x="2331720" y="1874520"/>
            <a:ext cx="1325880" cy="713232"/>
          </a:xfrm>
          <a:prstGeom prst="roundRect">
            <a:avLst>
              <a:gd name="adj" fmla="val 15385"/>
            </a:avLst>
          </a:prstGeom>
          <a:solidFill>
            <a:srgbClr val="F3EEFA"/>
          </a:solidFill>
          <a:ln w="12700">
            <a:solidFill>
              <a:srgbClr val="5C2D91"/>
            </a:solidFill>
            <a:prstDash val="solid"/>
          </a:ln>
        </p:spPr>
      </p:sp>
      <p:sp>
        <p:nvSpPr>
          <p:cNvPr id="15" name="Text 13"/>
          <p:cNvSpPr/>
          <p:nvPr/>
        </p:nvSpPr>
        <p:spPr>
          <a:xfrm>
            <a:off x="244144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Validate</a:t>
            </a:r>
            <a:endParaRPr lang="en-US" sz="1050" dirty="0"/>
          </a:p>
          <a:p>
            <a:pPr marL="0" indent="0" algn="ctr">
              <a:buNone/>
            </a:pPr>
            <a:r>
              <a:rPr lang="en-US" sz="1050" b="1" dirty="0">
                <a:solidFill>
                  <a:srgbClr val="1F2937"/>
                </a:solidFill>
              </a:rPr>
              <a:t>fields/category</a:t>
            </a:r>
            <a:endParaRPr lang="en-US" sz="1050" dirty="0"/>
          </a:p>
        </p:txBody>
      </p:sp>
      <p:sp>
        <p:nvSpPr>
          <p:cNvPr id="16" name="Shape 14"/>
          <p:cNvSpPr/>
          <p:nvPr/>
        </p:nvSpPr>
        <p:spPr>
          <a:xfrm>
            <a:off x="4160520" y="1874520"/>
            <a:ext cx="1325880" cy="713232"/>
          </a:xfrm>
          <a:prstGeom prst="roundRect">
            <a:avLst>
              <a:gd name="adj" fmla="val 15385"/>
            </a:avLst>
          </a:prstGeom>
          <a:solidFill>
            <a:srgbClr val="EAF9F7"/>
          </a:solidFill>
          <a:ln w="12700">
            <a:solidFill>
              <a:srgbClr val="008575"/>
            </a:solidFill>
            <a:prstDash val="solid"/>
          </a:ln>
        </p:spPr>
      </p:sp>
      <p:sp>
        <p:nvSpPr>
          <p:cNvPr id="17" name="Text 15"/>
          <p:cNvSpPr/>
          <p:nvPr/>
        </p:nvSpPr>
        <p:spPr>
          <a:xfrm>
            <a:off x="427024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Amount</a:t>
            </a:r>
            <a:endParaRPr lang="en-US" sz="1050" dirty="0"/>
          </a:p>
          <a:p>
            <a:pPr marL="0" indent="0" algn="ctr">
              <a:buNone/>
            </a:pPr>
            <a:r>
              <a:rPr lang="en-US" sz="1050" b="1" dirty="0">
                <a:solidFill>
                  <a:srgbClr val="1F2937"/>
                </a:solidFill>
              </a:rPr>
              <a:t>check</a:t>
            </a:r>
            <a:endParaRPr lang="en-US" sz="1050" dirty="0"/>
          </a:p>
        </p:txBody>
      </p:sp>
      <p:sp>
        <p:nvSpPr>
          <p:cNvPr id="18" name="Shape 16"/>
          <p:cNvSpPr/>
          <p:nvPr/>
        </p:nvSpPr>
        <p:spPr>
          <a:xfrm>
            <a:off x="5989320" y="1874520"/>
            <a:ext cx="1325880" cy="713232"/>
          </a:xfrm>
          <a:prstGeom prst="roundRect">
            <a:avLst>
              <a:gd name="adj" fmla="val 15385"/>
            </a:avLst>
          </a:prstGeom>
          <a:solidFill>
            <a:srgbClr val="FFF4EA"/>
          </a:solidFill>
          <a:ln w="12700">
            <a:solidFill>
              <a:srgbClr val="F7630C"/>
            </a:solidFill>
            <a:prstDash val="solid"/>
          </a:ln>
        </p:spPr>
      </p:sp>
      <p:sp>
        <p:nvSpPr>
          <p:cNvPr id="19" name="Text 17"/>
          <p:cNvSpPr/>
          <p:nvPr/>
        </p:nvSpPr>
        <p:spPr>
          <a:xfrm>
            <a:off x="609904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Manager</a:t>
            </a:r>
            <a:endParaRPr lang="en-US" sz="1050" dirty="0"/>
          </a:p>
          <a:p>
            <a:pPr marL="0" indent="0" algn="ctr">
              <a:buNone/>
            </a:pPr>
            <a:r>
              <a:rPr lang="en-US" sz="1050" b="1" dirty="0">
                <a:solidFill>
                  <a:srgbClr val="1F2937"/>
                </a:solidFill>
              </a:rPr>
              <a:t>approval</a:t>
            </a:r>
            <a:endParaRPr lang="en-US" sz="1050" dirty="0"/>
          </a:p>
        </p:txBody>
      </p:sp>
      <p:sp>
        <p:nvSpPr>
          <p:cNvPr id="20" name="Shape 18"/>
          <p:cNvSpPr/>
          <p:nvPr/>
        </p:nvSpPr>
        <p:spPr>
          <a:xfrm>
            <a:off x="7909560" y="1874520"/>
            <a:ext cx="1325880" cy="713232"/>
          </a:xfrm>
          <a:prstGeom prst="roundRect">
            <a:avLst>
              <a:gd name="adj" fmla="val 15385"/>
            </a:avLst>
          </a:prstGeom>
          <a:solidFill>
            <a:srgbClr val="FFF8DA"/>
          </a:solidFill>
          <a:ln w="12700">
            <a:solidFill>
              <a:srgbClr val="FFB900"/>
            </a:solidFill>
            <a:prstDash val="solid"/>
          </a:ln>
        </p:spPr>
      </p:sp>
      <p:sp>
        <p:nvSpPr>
          <p:cNvPr id="21" name="Text 19"/>
          <p:cNvSpPr/>
          <p:nvPr/>
        </p:nvSpPr>
        <p:spPr>
          <a:xfrm>
            <a:off x="801928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Timeout =</a:t>
            </a:r>
            <a:endParaRPr lang="en-US" sz="1050" dirty="0"/>
          </a:p>
          <a:p>
            <a:pPr marL="0" indent="0" algn="ctr">
              <a:buNone/>
            </a:pPr>
            <a:r>
              <a:rPr lang="en-US" sz="1050" b="1" dirty="0">
                <a:solidFill>
                  <a:srgbClr val="1F2937"/>
                </a:solidFill>
              </a:rPr>
              <a:t>approved + escalated</a:t>
            </a:r>
            <a:endParaRPr lang="en-US" sz="1050" dirty="0"/>
          </a:p>
        </p:txBody>
      </p:sp>
      <p:sp>
        <p:nvSpPr>
          <p:cNvPr id="22" name="Shape 20"/>
          <p:cNvSpPr/>
          <p:nvPr/>
        </p:nvSpPr>
        <p:spPr>
          <a:xfrm>
            <a:off x="10012680" y="1874520"/>
            <a:ext cx="1325880" cy="713232"/>
          </a:xfrm>
          <a:prstGeom prst="roundRect">
            <a:avLst>
              <a:gd name="adj" fmla="val 15385"/>
            </a:avLst>
          </a:prstGeom>
          <a:solidFill>
            <a:srgbClr val="EAF7EA"/>
          </a:solidFill>
          <a:ln w="12700">
            <a:solidFill>
              <a:srgbClr val="107C10"/>
            </a:solidFill>
            <a:prstDash val="solid"/>
          </a:ln>
        </p:spPr>
      </p:sp>
      <p:sp>
        <p:nvSpPr>
          <p:cNvPr id="23" name="Text 21"/>
          <p:cNvSpPr/>
          <p:nvPr/>
        </p:nvSpPr>
        <p:spPr>
          <a:xfrm>
            <a:off x="10122408" y="1993392"/>
            <a:ext cx="1106424" cy="548640"/>
          </a:xfrm>
          <a:prstGeom prst="rect">
            <a:avLst/>
          </a:prstGeom>
          <a:noFill/>
          <a:ln/>
        </p:spPr>
        <p:txBody>
          <a:bodyPr wrap="square" lIns="0" tIns="0" rIns="0" bIns="0" rtlCol="0" anchor="ctr"/>
          <a:lstStyle/>
          <a:p>
            <a:pPr marL="0" indent="0" algn="ctr">
              <a:buNone/>
            </a:pPr>
            <a:r>
              <a:rPr lang="en-US" sz="1050" b="1" dirty="0">
                <a:solidFill>
                  <a:srgbClr val="1F2937"/>
                </a:solidFill>
              </a:rPr>
              <a:t>Notify</a:t>
            </a:r>
            <a:endParaRPr lang="en-US" sz="1050" dirty="0"/>
          </a:p>
          <a:p>
            <a:pPr marL="0" indent="0" algn="ctr">
              <a:buNone/>
            </a:pPr>
            <a:r>
              <a:rPr lang="en-US" sz="1050" b="1" dirty="0">
                <a:solidFill>
                  <a:srgbClr val="1F2937"/>
                </a:solidFill>
              </a:rPr>
              <a:t>employee</a:t>
            </a:r>
            <a:endParaRPr lang="en-US" sz="1050" dirty="0"/>
          </a:p>
        </p:txBody>
      </p:sp>
      <p:sp>
        <p:nvSpPr>
          <p:cNvPr id="24" name="Shape 22"/>
          <p:cNvSpPr/>
          <p:nvPr/>
        </p:nvSpPr>
        <p:spPr>
          <a:xfrm>
            <a:off x="685800" y="3657600"/>
            <a:ext cx="3154680" cy="585216"/>
          </a:xfrm>
          <a:prstGeom prst="roundRect">
            <a:avLst>
              <a:gd name="adj" fmla="val 18750"/>
            </a:avLst>
          </a:prstGeom>
          <a:solidFill>
            <a:srgbClr val="FFFFFF"/>
          </a:solidFill>
          <a:ln w="12700">
            <a:solidFill>
              <a:srgbClr val="D8E3EE"/>
            </a:solidFill>
            <a:prstDash val="solid"/>
          </a:ln>
        </p:spPr>
      </p:sp>
      <p:sp>
        <p:nvSpPr>
          <p:cNvPr id="25" name="Text 23"/>
          <p:cNvSpPr/>
          <p:nvPr/>
        </p:nvSpPr>
        <p:spPr>
          <a:xfrm>
            <a:off x="822960" y="376732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Input</a:t>
            </a:r>
            <a:endParaRPr lang="en-US" sz="1100" dirty="0"/>
          </a:p>
        </p:txBody>
      </p:sp>
      <p:sp>
        <p:nvSpPr>
          <p:cNvPr id="26" name="Text 24"/>
          <p:cNvSpPr/>
          <p:nvPr/>
        </p:nvSpPr>
        <p:spPr>
          <a:xfrm>
            <a:off x="1518811" y="3772683"/>
            <a:ext cx="1791071"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Employee name, email, amount, category, description, manager email</a:t>
            </a:r>
            <a:endParaRPr lang="en-US" sz="1100" dirty="0"/>
          </a:p>
        </p:txBody>
      </p:sp>
      <p:sp>
        <p:nvSpPr>
          <p:cNvPr id="27" name="Shape 25"/>
          <p:cNvSpPr/>
          <p:nvPr/>
        </p:nvSpPr>
        <p:spPr>
          <a:xfrm>
            <a:off x="4389120" y="3657600"/>
            <a:ext cx="3154680" cy="585216"/>
          </a:xfrm>
          <a:prstGeom prst="roundRect">
            <a:avLst>
              <a:gd name="adj" fmla="val 18750"/>
            </a:avLst>
          </a:prstGeom>
          <a:solidFill>
            <a:srgbClr val="FFFFFF"/>
          </a:solidFill>
          <a:ln w="12700">
            <a:solidFill>
              <a:srgbClr val="D8E3EE"/>
            </a:solidFill>
            <a:prstDash val="solid"/>
          </a:ln>
        </p:spPr>
      </p:sp>
      <p:sp>
        <p:nvSpPr>
          <p:cNvPr id="28" name="Text 26"/>
          <p:cNvSpPr/>
          <p:nvPr/>
        </p:nvSpPr>
        <p:spPr>
          <a:xfrm>
            <a:off x="4526280" y="376732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Auto-approve</a:t>
            </a:r>
            <a:endParaRPr lang="en-US" sz="1100" dirty="0"/>
          </a:p>
        </p:txBody>
      </p:sp>
      <p:sp>
        <p:nvSpPr>
          <p:cNvPr id="29" name="Text 27"/>
          <p:cNvSpPr/>
          <p:nvPr/>
        </p:nvSpPr>
        <p:spPr>
          <a:xfrm>
            <a:off x="5623560" y="3739896"/>
            <a:ext cx="1815208"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Expenses under $100 bypass manager approval</a:t>
            </a:r>
            <a:endParaRPr lang="en-US" sz="1100" dirty="0"/>
          </a:p>
        </p:txBody>
      </p:sp>
      <p:sp>
        <p:nvSpPr>
          <p:cNvPr id="30" name="Shape 28"/>
          <p:cNvSpPr/>
          <p:nvPr/>
        </p:nvSpPr>
        <p:spPr>
          <a:xfrm>
            <a:off x="8092440" y="3657600"/>
            <a:ext cx="3154680" cy="585216"/>
          </a:xfrm>
          <a:prstGeom prst="roundRect">
            <a:avLst>
              <a:gd name="adj" fmla="val 18750"/>
            </a:avLst>
          </a:prstGeom>
          <a:solidFill>
            <a:srgbClr val="FFFFFF"/>
          </a:solidFill>
          <a:ln w="12700">
            <a:solidFill>
              <a:srgbClr val="D8E3EE"/>
            </a:solidFill>
            <a:prstDash val="solid"/>
          </a:ln>
        </p:spPr>
      </p:sp>
      <p:sp>
        <p:nvSpPr>
          <p:cNvPr id="31" name="Text 29"/>
          <p:cNvSpPr/>
          <p:nvPr/>
        </p:nvSpPr>
        <p:spPr>
          <a:xfrm>
            <a:off x="8229600" y="376732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Manager required</a:t>
            </a:r>
            <a:endParaRPr lang="en-US" sz="1100" dirty="0"/>
          </a:p>
        </p:txBody>
      </p:sp>
      <p:sp>
        <p:nvSpPr>
          <p:cNvPr id="32" name="Text 30"/>
          <p:cNvSpPr/>
          <p:nvPr/>
        </p:nvSpPr>
        <p:spPr>
          <a:xfrm>
            <a:off x="9326880" y="3739896"/>
            <a:ext cx="1662396"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Expenses $100 or more wait for approve/reject</a:t>
            </a:r>
            <a:endParaRPr lang="en-US" sz="1100" dirty="0"/>
          </a:p>
        </p:txBody>
      </p:sp>
      <p:sp>
        <p:nvSpPr>
          <p:cNvPr id="33" name="Shape 31"/>
          <p:cNvSpPr/>
          <p:nvPr/>
        </p:nvSpPr>
        <p:spPr>
          <a:xfrm>
            <a:off x="685800" y="4526280"/>
            <a:ext cx="3154680" cy="585216"/>
          </a:xfrm>
          <a:prstGeom prst="roundRect">
            <a:avLst>
              <a:gd name="adj" fmla="val 18750"/>
            </a:avLst>
          </a:prstGeom>
          <a:solidFill>
            <a:srgbClr val="FFFFFF"/>
          </a:solidFill>
          <a:ln w="12700">
            <a:solidFill>
              <a:srgbClr val="D8E3EE"/>
            </a:solidFill>
            <a:prstDash val="solid"/>
          </a:ln>
        </p:spPr>
      </p:sp>
      <p:sp>
        <p:nvSpPr>
          <p:cNvPr id="34" name="Text 32"/>
          <p:cNvSpPr/>
          <p:nvPr/>
        </p:nvSpPr>
        <p:spPr>
          <a:xfrm>
            <a:off x="822960" y="463600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Timeout</a:t>
            </a:r>
            <a:endParaRPr lang="en-US" sz="1100" dirty="0"/>
          </a:p>
        </p:txBody>
      </p:sp>
      <p:sp>
        <p:nvSpPr>
          <p:cNvPr id="35" name="Text 33"/>
          <p:cNvSpPr/>
          <p:nvPr/>
        </p:nvSpPr>
        <p:spPr>
          <a:xfrm>
            <a:off x="1548714" y="4608576"/>
            <a:ext cx="2199502"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No response ⇒ auto-approved and flagged escalated</a:t>
            </a:r>
            <a:endParaRPr lang="en-US" sz="1100" dirty="0"/>
          </a:p>
        </p:txBody>
      </p:sp>
      <p:sp>
        <p:nvSpPr>
          <p:cNvPr id="36" name="Shape 34"/>
          <p:cNvSpPr/>
          <p:nvPr/>
        </p:nvSpPr>
        <p:spPr>
          <a:xfrm>
            <a:off x="4389120" y="4526280"/>
            <a:ext cx="3154680" cy="585216"/>
          </a:xfrm>
          <a:prstGeom prst="roundRect">
            <a:avLst>
              <a:gd name="adj" fmla="val 18750"/>
            </a:avLst>
          </a:prstGeom>
          <a:solidFill>
            <a:srgbClr val="FFFFFF"/>
          </a:solidFill>
          <a:ln w="12700">
            <a:solidFill>
              <a:srgbClr val="D8E3EE"/>
            </a:solidFill>
            <a:prstDash val="solid"/>
          </a:ln>
        </p:spPr>
      </p:sp>
      <p:sp>
        <p:nvSpPr>
          <p:cNvPr id="37" name="Text 35"/>
          <p:cNvSpPr/>
          <p:nvPr/>
        </p:nvSpPr>
        <p:spPr>
          <a:xfrm>
            <a:off x="4526280" y="463600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Validation</a:t>
            </a:r>
            <a:endParaRPr lang="en-US" sz="1100" dirty="0"/>
          </a:p>
        </p:txBody>
      </p:sp>
      <p:sp>
        <p:nvSpPr>
          <p:cNvPr id="38" name="Text 36"/>
          <p:cNvSpPr/>
          <p:nvPr/>
        </p:nvSpPr>
        <p:spPr>
          <a:xfrm>
            <a:off x="5623560" y="4608576"/>
            <a:ext cx="1920240"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Missing fields or invalid category become validation errors</a:t>
            </a:r>
            <a:endParaRPr lang="en-US" sz="1100" dirty="0"/>
          </a:p>
        </p:txBody>
      </p:sp>
      <p:sp>
        <p:nvSpPr>
          <p:cNvPr id="39" name="Shape 37"/>
          <p:cNvSpPr/>
          <p:nvPr/>
        </p:nvSpPr>
        <p:spPr>
          <a:xfrm>
            <a:off x="8092440" y="4526280"/>
            <a:ext cx="3154680" cy="585216"/>
          </a:xfrm>
          <a:prstGeom prst="roundRect">
            <a:avLst>
              <a:gd name="adj" fmla="val 18750"/>
            </a:avLst>
          </a:prstGeom>
          <a:solidFill>
            <a:srgbClr val="FFFFFF"/>
          </a:solidFill>
          <a:ln w="12700">
            <a:solidFill>
              <a:srgbClr val="D8E3EE"/>
            </a:solidFill>
            <a:prstDash val="solid"/>
          </a:ln>
        </p:spPr>
      </p:sp>
      <p:sp>
        <p:nvSpPr>
          <p:cNvPr id="40" name="Text 38"/>
          <p:cNvSpPr/>
          <p:nvPr/>
        </p:nvSpPr>
        <p:spPr>
          <a:xfrm>
            <a:off x="8229600" y="4636008"/>
            <a:ext cx="914400" cy="164592"/>
          </a:xfrm>
          <a:prstGeom prst="rect">
            <a:avLst/>
          </a:prstGeom>
          <a:noFill/>
          <a:ln/>
        </p:spPr>
        <p:txBody>
          <a:bodyPr wrap="square" lIns="0" tIns="0" rIns="0" bIns="0" rtlCol="0" anchor="ctr"/>
          <a:lstStyle/>
          <a:p>
            <a:pPr marL="0" indent="0">
              <a:buNone/>
            </a:pPr>
            <a:r>
              <a:rPr lang="en-US" sz="1100" b="1" dirty="0">
                <a:solidFill>
                  <a:srgbClr val="0078D4"/>
                </a:solidFill>
              </a:rPr>
              <a:t>Categories</a:t>
            </a:r>
            <a:endParaRPr lang="en-US" sz="1100" dirty="0"/>
          </a:p>
        </p:txBody>
      </p:sp>
      <p:sp>
        <p:nvSpPr>
          <p:cNvPr id="41" name="Text 39"/>
          <p:cNvSpPr/>
          <p:nvPr/>
        </p:nvSpPr>
        <p:spPr>
          <a:xfrm>
            <a:off x="9326880" y="4608576"/>
            <a:ext cx="1662396" cy="310896"/>
          </a:xfrm>
          <a:prstGeom prst="rect">
            <a:avLst/>
          </a:prstGeom>
          <a:noFill/>
          <a:ln/>
        </p:spPr>
        <p:txBody>
          <a:bodyPr wrap="square" lIns="0" tIns="0" rIns="0" bIns="0" rtlCol="0" anchor="ctr">
            <a:noAutofit/>
          </a:bodyPr>
          <a:lstStyle/>
          <a:p>
            <a:pPr marL="0" indent="0">
              <a:buNone/>
            </a:pPr>
            <a:r>
              <a:rPr lang="en-US" sz="1100" dirty="0">
                <a:solidFill>
                  <a:srgbClr val="1F2937"/>
                </a:solidFill>
              </a:rPr>
              <a:t>travel, meals, supplies, equipment, software, other</a:t>
            </a:r>
            <a:endParaRPr lang="en-US" sz="1100" dirty="0"/>
          </a:p>
        </p:txBody>
      </p:sp>
      <p:sp>
        <p:nvSpPr>
          <p:cNvPr id="43" name="Text 40"/>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Version A :  Durable Functions architecture</a:t>
            </a:r>
            <a:endParaRPr lang="en-US" sz="3000" dirty="0"/>
          </a:p>
        </p:txBody>
      </p:sp>
      <p:sp>
        <p:nvSpPr>
          <p:cNvPr id="6" name="Text 4"/>
          <p:cNvSpPr/>
          <p:nvPr/>
        </p:nvSpPr>
        <p:spPr>
          <a:xfrm>
            <a:off x="530352" y="822960"/>
            <a:ext cx="9144000" cy="274320"/>
          </a:xfrm>
          <a:prstGeom prst="rect">
            <a:avLst/>
          </a:prstGeom>
          <a:noFill/>
          <a:ln/>
        </p:spPr>
        <p:txBody>
          <a:bodyPr wrap="square" lIns="0" tIns="0" rIns="0" bIns="0" rtlCol="0" anchor="ctr"/>
          <a:lstStyle/>
          <a:p>
            <a:pPr marL="0" indent="0">
              <a:buNone/>
            </a:pPr>
            <a:r>
              <a:rPr lang="en-US" sz="1250" dirty="0">
                <a:solidFill>
                  <a:srgbClr val="64748B"/>
                </a:solidFill>
              </a:rPr>
              <a:t>Code-first orchestration using Python </a:t>
            </a:r>
            <a:endParaRPr lang="en-US" sz="1250" dirty="0"/>
          </a:p>
        </p:txBody>
      </p:sp>
      <p:sp>
        <p:nvSpPr>
          <p:cNvPr id="7" name="Shape 5"/>
          <p:cNvSpPr/>
          <p:nvPr/>
        </p:nvSpPr>
        <p:spPr>
          <a:xfrm>
            <a:off x="685800" y="1508760"/>
            <a:ext cx="2057400" cy="2103120"/>
          </a:xfrm>
          <a:prstGeom prst="roundRect">
            <a:avLst>
              <a:gd name="adj" fmla="val 5333"/>
            </a:avLst>
          </a:prstGeom>
          <a:solidFill>
            <a:srgbClr val="FFFFFF"/>
          </a:solidFill>
          <a:ln w="12700">
            <a:solidFill>
              <a:srgbClr val="0078D4"/>
            </a:solidFill>
            <a:prstDash val="solid"/>
          </a:ln>
          <a:effectLst>
            <a:outerShdw blurRad="12700" dist="50800" dir="2700000" algn="bl" rotWithShape="0">
              <a:srgbClr val="DCE7F2">
                <a:alpha val="25000"/>
              </a:srgbClr>
            </a:outerShdw>
          </a:effectLst>
        </p:spPr>
      </p:sp>
      <p:sp>
        <p:nvSpPr>
          <p:cNvPr id="8" name="Shape 6"/>
          <p:cNvSpPr/>
          <p:nvPr/>
        </p:nvSpPr>
        <p:spPr>
          <a:xfrm>
            <a:off x="850392" y="1737360"/>
            <a:ext cx="384048" cy="384048"/>
          </a:xfrm>
          <a:prstGeom prst="ellipse">
            <a:avLst/>
          </a:prstGeom>
          <a:solidFill>
            <a:srgbClr val="0078D4"/>
          </a:solidFill>
          <a:ln w="12700">
            <a:solidFill>
              <a:srgbClr val="0078D4"/>
            </a:solidFill>
            <a:prstDash val="solid"/>
          </a:ln>
        </p:spPr>
      </p:sp>
      <p:sp>
        <p:nvSpPr>
          <p:cNvPr id="9" name="Text 7"/>
          <p:cNvSpPr/>
          <p:nvPr/>
        </p:nvSpPr>
        <p:spPr>
          <a:xfrm>
            <a:off x="850392" y="1847088"/>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10" name="Text 8"/>
          <p:cNvSpPr/>
          <p:nvPr/>
        </p:nvSpPr>
        <p:spPr>
          <a:xfrm>
            <a:off x="1344168" y="1773936"/>
            <a:ext cx="1143000" cy="182880"/>
          </a:xfrm>
          <a:prstGeom prst="rect">
            <a:avLst/>
          </a:prstGeom>
          <a:noFill/>
          <a:ln/>
        </p:spPr>
        <p:txBody>
          <a:bodyPr wrap="square" lIns="0" tIns="0" rIns="0" bIns="0" rtlCol="0" anchor="ctr"/>
          <a:lstStyle/>
          <a:p>
            <a:pPr marL="0" indent="0">
              <a:buNone/>
            </a:pPr>
            <a:r>
              <a:rPr lang="en-US" sz="1100" b="1" dirty="0">
                <a:solidFill>
                  <a:srgbClr val="0B1F33"/>
                </a:solidFill>
              </a:rPr>
              <a:t>Client layer</a:t>
            </a:r>
            <a:endParaRPr lang="en-US" sz="1100" dirty="0"/>
          </a:p>
        </p:txBody>
      </p:sp>
      <p:sp>
        <p:nvSpPr>
          <p:cNvPr id="11" name="Shape 9"/>
          <p:cNvSpPr/>
          <p:nvPr/>
        </p:nvSpPr>
        <p:spPr>
          <a:xfrm>
            <a:off x="886968" y="2331720"/>
            <a:ext cx="1664208" cy="960120"/>
          </a:xfrm>
          <a:prstGeom prst="rect">
            <a:avLst/>
          </a:prstGeom>
          <a:solidFill>
            <a:srgbClr val="EAF4FF"/>
          </a:solidFill>
          <a:ln w="12700">
            <a:solidFill>
              <a:srgbClr val="EAF4FF"/>
            </a:solidFill>
            <a:prstDash val="solid"/>
          </a:ln>
        </p:spPr>
      </p:sp>
      <p:sp>
        <p:nvSpPr>
          <p:cNvPr id="12" name="Text 10"/>
          <p:cNvSpPr/>
          <p:nvPr/>
        </p:nvSpPr>
        <p:spPr>
          <a:xfrm>
            <a:off x="1005840" y="2487168"/>
            <a:ext cx="1417320" cy="594360"/>
          </a:xfrm>
          <a:prstGeom prst="rect">
            <a:avLst/>
          </a:prstGeom>
          <a:noFill/>
          <a:ln/>
        </p:spPr>
        <p:txBody>
          <a:bodyPr wrap="square" lIns="0" tIns="0" rIns="0" bIns="0" rtlCol="0" anchor="ctr">
            <a:normAutofit/>
          </a:bodyPr>
          <a:lstStyle/>
          <a:p>
            <a:pPr marL="0" indent="0" algn="ctr">
              <a:buNone/>
            </a:pPr>
            <a:r>
              <a:rPr lang="en-US" sz="1020" b="1" dirty="0">
                <a:solidFill>
                  <a:srgbClr val="1F2937"/>
                </a:solidFill>
              </a:rPr>
              <a:t>HTTP Starter</a:t>
            </a:r>
            <a:endParaRPr lang="en-US" sz="1020" dirty="0"/>
          </a:p>
          <a:p>
            <a:pPr marL="0" indent="0" algn="ctr">
              <a:buNone/>
            </a:pPr>
            <a:r>
              <a:rPr lang="en-US" sz="1020" b="1" dirty="0">
                <a:solidFill>
                  <a:srgbClr val="1F2937"/>
                </a:solidFill>
              </a:rPr>
              <a:t>/api/expenses</a:t>
            </a:r>
            <a:endParaRPr lang="en-US" sz="1020" dirty="0"/>
          </a:p>
        </p:txBody>
      </p:sp>
      <p:sp>
        <p:nvSpPr>
          <p:cNvPr id="13" name="Shape 11"/>
          <p:cNvSpPr/>
          <p:nvPr/>
        </p:nvSpPr>
        <p:spPr>
          <a:xfrm>
            <a:off x="3246120" y="1508760"/>
            <a:ext cx="2057400" cy="2103120"/>
          </a:xfrm>
          <a:prstGeom prst="roundRect">
            <a:avLst>
              <a:gd name="adj" fmla="val 5333"/>
            </a:avLst>
          </a:prstGeom>
          <a:solidFill>
            <a:srgbClr val="FFFFFF"/>
          </a:solidFill>
          <a:ln w="12700">
            <a:solidFill>
              <a:srgbClr val="0B1F33"/>
            </a:solidFill>
            <a:prstDash val="solid"/>
          </a:ln>
          <a:effectLst>
            <a:outerShdw blurRad="12700" dist="50800" dir="2700000" algn="bl" rotWithShape="0">
              <a:srgbClr val="DCE7F2">
                <a:alpha val="25000"/>
              </a:srgbClr>
            </a:outerShdw>
          </a:effectLst>
        </p:spPr>
      </p:sp>
      <p:sp>
        <p:nvSpPr>
          <p:cNvPr id="14" name="Shape 12"/>
          <p:cNvSpPr/>
          <p:nvPr/>
        </p:nvSpPr>
        <p:spPr>
          <a:xfrm>
            <a:off x="3410712" y="1737360"/>
            <a:ext cx="384048" cy="384048"/>
          </a:xfrm>
          <a:prstGeom prst="ellipse">
            <a:avLst/>
          </a:prstGeom>
          <a:solidFill>
            <a:srgbClr val="0B1F33"/>
          </a:solidFill>
          <a:ln w="12700">
            <a:solidFill>
              <a:srgbClr val="0B1F33"/>
            </a:solidFill>
            <a:prstDash val="solid"/>
          </a:ln>
        </p:spPr>
      </p:sp>
      <p:sp>
        <p:nvSpPr>
          <p:cNvPr id="15" name="Text 13"/>
          <p:cNvSpPr/>
          <p:nvPr/>
        </p:nvSpPr>
        <p:spPr>
          <a:xfrm>
            <a:off x="3410712" y="1847088"/>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16" name="Text 14"/>
          <p:cNvSpPr/>
          <p:nvPr/>
        </p:nvSpPr>
        <p:spPr>
          <a:xfrm>
            <a:off x="3904488" y="1773936"/>
            <a:ext cx="1143000" cy="182880"/>
          </a:xfrm>
          <a:prstGeom prst="rect">
            <a:avLst/>
          </a:prstGeom>
          <a:noFill/>
          <a:ln/>
        </p:spPr>
        <p:txBody>
          <a:bodyPr wrap="square" lIns="0" tIns="0" rIns="0" bIns="0" rtlCol="0" anchor="ctr"/>
          <a:lstStyle/>
          <a:p>
            <a:pPr marL="0" indent="0">
              <a:buNone/>
            </a:pPr>
            <a:r>
              <a:rPr lang="en-US" sz="1100" b="1" dirty="0">
                <a:solidFill>
                  <a:srgbClr val="0B1F33"/>
                </a:solidFill>
              </a:rPr>
              <a:t>Orchestration layer</a:t>
            </a:r>
            <a:endParaRPr lang="en-US" sz="1100" dirty="0"/>
          </a:p>
        </p:txBody>
      </p:sp>
      <p:sp>
        <p:nvSpPr>
          <p:cNvPr id="17" name="Shape 15"/>
          <p:cNvSpPr/>
          <p:nvPr/>
        </p:nvSpPr>
        <p:spPr>
          <a:xfrm>
            <a:off x="3447288" y="2331720"/>
            <a:ext cx="1664208" cy="960120"/>
          </a:xfrm>
          <a:prstGeom prst="rect">
            <a:avLst/>
          </a:prstGeom>
          <a:solidFill>
            <a:srgbClr val="EEF5FD"/>
          </a:solidFill>
          <a:ln w="12700">
            <a:solidFill>
              <a:srgbClr val="EEF5FD"/>
            </a:solidFill>
            <a:prstDash val="solid"/>
          </a:ln>
        </p:spPr>
      </p:sp>
      <p:sp>
        <p:nvSpPr>
          <p:cNvPr id="18" name="Text 16"/>
          <p:cNvSpPr/>
          <p:nvPr/>
        </p:nvSpPr>
        <p:spPr>
          <a:xfrm>
            <a:off x="3566160" y="2487168"/>
            <a:ext cx="1417320" cy="594360"/>
          </a:xfrm>
          <a:prstGeom prst="rect">
            <a:avLst/>
          </a:prstGeom>
          <a:noFill/>
          <a:ln/>
        </p:spPr>
        <p:txBody>
          <a:bodyPr wrap="square" lIns="0" tIns="0" rIns="0" bIns="0" rtlCol="0" anchor="ctr">
            <a:normAutofit/>
          </a:bodyPr>
          <a:lstStyle/>
          <a:p>
            <a:pPr marL="0" indent="0" algn="ctr">
              <a:buNone/>
            </a:pPr>
            <a:r>
              <a:rPr lang="en-US" sz="1020" b="1" dirty="0">
                <a:solidFill>
                  <a:srgbClr val="1F2937"/>
                </a:solidFill>
              </a:rPr>
              <a:t>Expense Orchestrator</a:t>
            </a:r>
            <a:endParaRPr lang="en-US" sz="1020" dirty="0"/>
          </a:p>
          <a:p>
            <a:pPr marL="0" indent="0" algn="ctr">
              <a:buNone/>
            </a:pPr>
            <a:r>
              <a:rPr lang="en-US" sz="1020" b="1" dirty="0">
                <a:solidFill>
                  <a:srgbClr val="1F2937"/>
                </a:solidFill>
              </a:rPr>
              <a:t>Coordinates state and branching</a:t>
            </a:r>
            <a:endParaRPr lang="en-US" sz="1020" dirty="0"/>
          </a:p>
        </p:txBody>
      </p:sp>
      <p:sp>
        <p:nvSpPr>
          <p:cNvPr id="19" name="Shape 17"/>
          <p:cNvSpPr/>
          <p:nvPr/>
        </p:nvSpPr>
        <p:spPr>
          <a:xfrm>
            <a:off x="5806440" y="1508760"/>
            <a:ext cx="2057400" cy="2103120"/>
          </a:xfrm>
          <a:prstGeom prst="roundRect">
            <a:avLst>
              <a:gd name="adj" fmla="val 5333"/>
            </a:avLst>
          </a:prstGeom>
          <a:solidFill>
            <a:srgbClr val="FFFFFF"/>
          </a:solidFill>
          <a:ln w="12700">
            <a:solidFill>
              <a:srgbClr val="008575"/>
            </a:solidFill>
            <a:prstDash val="solid"/>
          </a:ln>
          <a:effectLst>
            <a:outerShdw blurRad="12700" dist="50800" dir="2700000" algn="bl" rotWithShape="0">
              <a:srgbClr val="DCE7F2">
                <a:alpha val="25000"/>
              </a:srgbClr>
            </a:outerShdw>
          </a:effectLst>
        </p:spPr>
      </p:sp>
      <p:sp>
        <p:nvSpPr>
          <p:cNvPr id="20" name="Shape 18"/>
          <p:cNvSpPr/>
          <p:nvPr/>
        </p:nvSpPr>
        <p:spPr>
          <a:xfrm>
            <a:off x="5971032" y="1737360"/>
            <a:ext cx="384048" cy="384048"/>
          </a:xfrm>
          <a:prstGeom prst="ellipse">
            <a:avLst/>
          </a:prstGeom>
          <a:solidFill>
            <a:srgbClr val="008575"/>
          </a:solidFill>
          <a:ln w="12700">
            <a:solidFill>
              <a:srgbClr val="008575"/>
            </a:solidFill>
            <a:prstDash val="solid"/>
          </a:ln>
        </p:spPr>
      </p:sp>
      <p:sp>
        <p:nvSpPr>
          <p:cNvPr id="21" name="Text 19"/>
          <p:cNvSpPr/>
          <p:nvPr/>
        </p:nvSpPr>
        <p:spPr>
          <a:xfrm>
            <a:off x="5971032" y="1847088"/>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22" name="Text 20"/>
          <p:cNvSpPr/>
          <p:nvPr/>
        </p:nvSpPr>
        <p:spPr>
          <a:xfrm>
            <a:off x="6464808" y="1773936"/>
            <a:ext cx="1143000" cy="182880"/>
          </a:xfrm>
          <a:prstGeom prst="rect">
            <a:avLst/>
          </a:prstGeom>
          <a:noFill/>
          <a:ln/>
        </p:spPr>
        <p:txBody>
          <a:bodyPr wrap="square" lIns="0" tIns="0" rIns="0" bIns="0" rtlCol="0" anchor="ctr"/>
          <a:lstStyle/>
          <a:p>
            <a:pPr marL="0" indent="0">
              <a:buNone/>
            </a:pPr>
            <a:r>
              <a:rPr lang="en-US" sz="1100" b="1" dirty="0">
                <a:solidFill>
                  <a:srgbClr val="0B1F33"/>
                </a:solidFill>
              </a:rPr>
              <a:t>Work activities</a:t>
            </a:r>
            <a:endParaRPr lang="en-US" sz="1100" dirty="0"/>
          </a:p>
        </p:txBody>
      </p:sp>
      <p:sp>
        <p:nvSpPr>
          <p:cNvPr id="23" name="Shape 21"/>
          <p:cNvSpPr/>
          <p:nvPr/>
        </p:nvSpPr>
        <p:spPr>
          <a:xfrm>
            <a:off x="6007608" y="2331720"/>
            <a:ext cx="1664208" cy="960120"/>
          </a:xfrm>
          <a:prstGeom prst="rect">
            <a:avLst/>
          </a:prstGeom>
          <a:solidFill>
            <a:srgbClr val="EAF9F7"/>
          </a:solidFill>
          <a:ln w="12700">
            <a:solidFill>
              <a:srgbClr val="EAF9F7"/>
            </a:solidFill>
            <a:prstDash val="solid"/>
          </a:ln>
        </p:spPr>
      </p:sp>
      <p:sp>
        <p:nvSpPr>
          <p:cNvPr id="24" name="Text 22"/>
          <p:cNvSpPr/>
          <p:nvPr/>
        </p:nvSpPr>
        <p:spPr>
          <a:xfrm>
            <a:off x="6126480" y="2487168"/>
            <a:ext cx="1417320" cy="594360"/>
          </a:xfrm>
          <a:prstGeom prst="rect">
            <a:avLst/>
          </a:prstGeom>
          <a:noFill/>
          <a:ln/>
        </p:spPr>
        <p:txBody>
          <a:bodyPr wrap="square" lIns="0" tIns="0" rIns="0" bIns="0" rtlCol="0" anchor="ctr">
            <a:normAutofit lnSpcReduction="10000"/>
          </a:bodyPr>
          <a:lstStyle/>
          <a:p>
            <a:pPr marL="0" indent="0" algn="ctr">
              <a:buNone/>
            </a:pPr>
            <a:r>
              <a:rPr lang="en-US" sz="1020" b="1" dirty="0">
                <a:solidFill>
                  <a:srgbClr val="1F2937"/>
                </a:solidFill>
              </a:rPr>
              <a:t>Validate Activity</a:t>
            </a:r>
            <a:endParaRPr lang="en-US" sz="1020" dirty="0"/>
          </a:p>
          <a:p>
            <a:pPr marL="0" indent="0" algn="ctr">
              <a:buNone/>
            </a:pPr>
            <a:r>
              <a:rPr lang="en-US" sz="1020" b="1" dirty="0">
                <a:solidFill>
                  <a:srgbClr val="1F2937"/>
                </a:solidFill>
              </a:rPr>
              <a:t>Request Manager</a:t>
            </a:r>
            <a:endParaRPr lang="en-US" sz="1020" dirty="0"/>
          </a:p>
          <a:p>
            <a:pPr marL="0" indent="0" algn="ctr">
              <a:buNone/>
            </a:pPr>
            <a:r>
              <a:rPr lang="en-US" sz="1020" b="1" dirty="0">
                <a:solidFill>
                  <a:srgbClr val="1F2937"/>
                </a:solidFill>
              </a:rPr>
              <a:t>Process Outcome</a:t>
            </a:r>
            <a:endParaRPr lang="en-US" sz="1020" dirty="0"/>
          </a:p>
          <a:p>
            <a:pPr marL="0" indent="0" algn="ctr">
              <a:buNone/>
            </a:pPr>
            <a:r>
              <a:rPr lang="en-US" sz="1020" b="1" dirty="0">
                <a:solidFill>
                  <a:srgbClr val="1F2937"/>
                </a:solidFill>
              </a:rPr>
              <a:t>Notify Employee</a:t>
            </a:r>
            <a:endParaRPr lang="en-US" sz="1020" dirty="0"/>
          </a:p>
        </p:txBody>
      </p:sp>
      <p:sp>
        <p:nvSpPr>
          <p:cNvPr id="25" name="Shape 23"/>
          <p:cNvSpPr/>
          <p:nvPr/>
        </p:nvSpPr>
        <p:spPr>
          <a:xfrm>
            <a:off x="8366760" y="1508760"/>
            <a:ext cx="2057400" cy="2103120"/>
          </a:xfrm>
          <a:prstGeom prst="roundRect">
            <a:avLst>
              <a:gd name="adj" fmla="val 5333"/>
            </a:avLst>
          </a:prstGeom>
          <a:solidFill>
            <a:srgbClr val="FFFFFF"/>
          </a:solidFill>
          <a:ln w="12700">
            <a:solidFill>
              <a:srgbClr val="F7630C"/>
            </a:solidFill>
            <a:prstDash val="solid"/>
          </a:ln>
          <a:effectLst>
            <a:outerShdw blurRad="12700" dist="50800" dir="2700000" algn="bl" rotWithShape="0">
              <a:srgbClr val="DCE7F2">
                <a:alpha val="25000"/>
              </a:srgbClr>
            </a:outerShdw>
          </a:effectLst>
        </p:spPr>
      </p:sp>
      <p:sp>
        <p:nvSpPr>
          <p:cNvPr id="26" name="Shape 24"/>
          <p:cNvSpPr/>
          <p:nvPr/>
        </p:nvSpPr>
        <p:spPr>
          <a:xfrm>
            <a:off x="8531352" y="1737360"/>
            <a:ext cx="384048" cy="384048"/>
          </a:xfrm>
          <a:prstGeom prst="ellipse">
            <a:avLst/>
          </a:prstGeom>
          <a:solidFill>
            <a:srgbClr val="F7630C"/>
          </a:solidFill>
          <a:ln w="12700">
            <a:solidFill>
              <a:srgbClr val="F7630C"/>
            </a:solidFill>
            <a:prstDash val="solid"/>
          </a:ln>
        </p:spPr>
      </p:sp>
      <p:sp>
        <p:nvSpPr>
          <p:cNvPr id="27" name="Text 25"/>
          <p:cNvSpPr/>
          <p:nvPr/>
        </p:nvSpPr>
        <p:spPr>
          <a:xfrm>
            <a:off x="8531352" y="1847088"/>
            <a:ext cx="384048" cy="109728"/>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28" name="Text 26"/>
          <p:cNvSpPr/>
          <p:nvPr/>
        </p:nvSpPr>
        <p:spPr>
          <a:xfrm>
            <a:off x="9025128" y="1773936"/>
            <a:ext cx="1143000" cy="182880"/>
          </a:xfrm>
          <a:prstGeom prst="rect">
            <a:avLst/>
          </a:prstGeom>
          <a:noFill/>
          <a:ln/>
        </p:spPr>
        <p:txBody>
          <a:bodyPr wrap="square" lIns="0" tIns="0" rIns="0" bIns="0" rtlCol="0" anchor="ctr"/>
          <a:lstStyle/>
          <a:p>
            <a:pPr marL="0" indent="0">
              <a:buNone/>
            </a:pPr>
            <a:r>
              <a:rPr lang="en-US" sz="1100" b="1" dirty="0">
                <a:solidFill>
                  <a:srgbClr val="0B1F33"/>
                </a:solidFill>
              </a:rPr>
              <a:t>Human interaction</a:t>
            </a:r>
            <a:endParaRPr lang="en-US" sz="1100" dirty="0"/>
          </a:p>
        </p:txBody>
      </p:sp>
      <p:sp>
        <p:nvSpPr>
          <p:cNvPr id="29" name="Shape 27"/>
          <p:cNvSpPr/>
          <p:nvPr/>
        </p:nvSpPr>
        <p:spPr>
          <a:xfrm>
            <a:off x="8567928" y="2331720"/>
            <a:ext cx="1664208" cy="960120"/>
          </a:xfrm>
          <a:prstGeom prst="rect">
            <a:avLst/>
          </a:prstGeom>
          <a:solidFill>
            <a:srgbClr val="FFF4EA"/>
          </a:solidFill>
          <a:ln w="12700">
            <a:solidFill>
              <a:srgbClr val="FFF4EA"/>
            </a:solidFill>
            <a:prstDash val="solid"/>
          </a:ln>
        </p:spPr>
      </p:sp>
      <p:sp>
        <p:nvSpPr>
          <p:cNvPr id="30" name="Text 28"/>
          <p:cNvSpPr/>
          <p:nvPr/>
        </p:nvSpPr>
        <p:spPr>
          <a:xfrm>
            <a:off x="8686800" y="2487168"/>
            <a:ext cx="1417320" cy="594360"/>
          </a:xfrm>
          <a:prstGeom prst="rect">
            <a:avLst/>
          </a:prstGeom>
          <a:noFill/>
          <a:ln/>
        </p:spPr>
        <p:txBody>
          <a:bodyPr wrap="square" lIns="0" tIns="0" rIns="0" bIns="0" rtlCol="0" anchor="ctr">
            <a:normAutofit/>
          </a:bodyPr>
          <a:lstStyle/>
          <a:p>
            <a:pPr marL="0" indent="0" algn="ctr">
              <a:buNone/>
            </a:pPr>
            <a:r>
              <a:rPr lang="en-US" sz="1020" b="1" dirty="0">
                <a:solidFill>
                  <a:srgbClr val="1F2937"/>
                </a:solidFill>
              </a:rPr>
              <a:t>ManagerDecision Event</a:t>
            </a:r>
            <a:endParaRPr lang="en-US" sz="1020" dirty="0"/>
          </a:p>
          <a:p>
            <a:pPr marL="0" indent="0" algn="ctr">
              <a:buNone/>
            </a:pPr>
            <a:r>
              <a:rPr lang="en-US" sz="1020" b="1" dirty="0">
                <a:solidFill>
                  <a:srgbClr val="1F2937"/>
                </a:solidFill>
              </a:rPr>
              <a:t>Durable Timer</a:t>
            </a:r>
            <a:endParaRPr lang="en-US" sz="1020" dirty="0"/>
          </a:p>
          <a:p>
            <a:pPr marL="0" indent="0" algn="ctr">
              <a:buNone/>
            </a:pPr>
            <a:r>
              <a:rPr lang="en-US" sz="1020" b="1" dirty="0">
                <a:solidFill>
                  <a:srgbClr val="1F2937"/>
                </a:solidFill>
              </a:rPr>
              <a:t>Timeout → escalated</a:t>
            </a:r>
            <a:endParaRPr lang="en-US" sz="1020" dirty="0"/>
          </a:p>
        </p:txBody>
      </p:sp>
      <p:sp>
        <p:nvSpPr>
          <p:cNvPr id="31" name="Shape 29"/>
          <p:cNvSpPr/>
          <p:nvPr/>
        </p:nvSpPr>
        <p:spPr>
          <a:xfrm>
            <a:off x="3794760" y="4413422"/>
            <a:ext cx="3200400" cy="1143000"/>
          </a:xfrm>
          <a:prstGeom prst="roundRect">
            <a:avLst>
              <a:gd name="adj" fmla="val 9600"/>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32" name="Text 30"/>
          <p:cNvSpPr/>
          <p:nvPr/>
        </p:nvSpPr>
        <p:spPr>
          <a:xfrm>
            <a:off x="3977640" y="4614590"/>
            <a:ext cx="2743200" cy="228600"/>
          </a:xfrm>
          <a:prstGeom prst="rect">
            <a:avLst/>
          </a:prstGeom>
          <a:noFill/>
          <a:ln/>
        </p:spPr>
        <p:txBody>
          <a:bodyPr wrap="square" lIns="0" tIns="0" rIns="0" bIns="0" rtlCol="0" anchor="ctr"/>
          <a:lstStyle/>
          <a:p>
            <a:pPr marL="0" indent="0">
              <a:buNone/>
            </a:pPr>
            <a:r>
              <a:rPr lang="en-US" sz="1500" b="1" dirty="0">
                <a:solidFill>
                  <a:srgbClr val="0B1F33"/>
                </a:solidFill>
              </a:rPr>
              <a:t>Key design decisions</a:t>
            </a:r>
            <a:endParaRPr lang="en-US" sz="1500" dirty="0"/>
          </a:p>
        </p:txBody>
      </p:sp>
      <p:sp>
        <p:nvSpPr>
          <p:cNvPr id="33" name="Text 31"/>
          <p:cNvSpPr/>
          <p:nvPr/>
        </p:nvSpPr>
        <p:spPr>
          <a:xfrm>
            <a:off x="3977640" y="4980350"/>
            <a:ext cx="2743200" cy="310896"/>
          </a:xfrm>
          <a:prstGeom prst="rect">
            <a:avLst/>
          </a:prstGeom>
          <a:noFill/>
          <a:ln/>
        </p:spPr>
        <p:txBody>
          <a:bodyPr wrap="square" lIns="254" tIns="254" rIns="254" bIns="254" rtlCol="0" anchor="ctr">
            <a:normAutofit lnSpcReduction="10000"/>
          </a:bodyPr>
          <a:lstStyle/>
          <a:p>
            <a:pPr marL="0" indent="0">
              <a:buNone/>
            </a:pPr>
            <a:r>
              <a:rPr lang="en-US" sz="1020" dirty="0">
                <a:solidFill>
                  <a:srgbClr val="1F2937"/>
                </a:solidFill>
              </a:rPr>
              <a:t>Human interaction pattern; external event + timer; activity functions for side effects.</a:t>
            </a:r>
            <a:endParaRPr lang="en-US" sz="1020" dirty="0"/>
          </a:p>
        </p:txBody>
      </p:sp>
      <p:sp>
        <p:nvSpPr>
          <p:cNvPr id="41" name="Text 38"/>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Version A : Demo</a:t>
            </a:r>
            <a:endParaRPr lang="en-US" sz="3000" dirty="0"/>
          </a:p>
        </p:txBody>
      </p:sp>
      <p:sp>
        <p:nvSpPr>
          <p:cNvPr id="51" name="Text 48"/>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4</a:t>
            </a:r>
            <a:endParaRPr lang="en-US" sz="750" dirty="0"/>
          </a:p>
        </p:txBody>
      </p:sp>
      <p:sp>
        <p:nvSpPr>
          <p:cNvPr id="52" name="Shape 5">
            <a:extLst>
              <a:ext uri="{FF2B5EF4-FFF2-40B4-BE49-F238E27FC236}">
                <a16:creationId xmlns:a16="http://schemas.microsoft.com/office/drawing/2014/main" id="{087F57F1-61EF-0967-A1C6-BDEBD62663B6}"/>
              </a:ext>
            </a:extLst>
          </p:cNvPr>
          <p:cNvSpPr/>
          <p:nvPr/>
        </p:nvSpPr>
        <p:spPr>
          <a:xfrm>
            <a:off x="3803903" y="1668780"/>
            <a:ext cx="3493879" cy="3520440"/>
          </a:xfrm>
          <a:prstGeom prst="roundRect">
            <a:avLst>
              <a:gd name="adj" fmla="val 3333"/>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54" name="Shape 6">
            <a:extLst>
              <a:ext uri="{FF2B5EF4-FFF2-40B4-BE49-F238E27FC236}">
                <a16:creationId xmlns:a16="http://schemas.microsoft.com/office/drawing/2014/main" id="{57FEA478-9D61-2E7D-6388-49D9BA61BA1D}"/>
              </a:ext>
            </a:extLst>
          </p:cNvPr>
          <p:cNvSpPr/>
          <p:nvPr/>
        </p:nvSpPr>
        <p:spPr>
          <a:xfrm>
            <a:off x="3822192" y="1696212"/>
            <a:ext cx="3475590" cy="512064"/>
          </a:xfrm>
          <a:prstGeom prst="rect">
            <a:avLst/>
          </a:prstGeom>
          <a:solidFill>
            <a:srgbClr val="0078D4"/>
          </a:solidFill>
          <a:ln w="12700">
            <a:solidFill>
              <a:srgbClr val="0078D4"/>
            </a:solidFill>
            <a:prstDash val="solid"/>
          </a:ln>
        </p:spPr>
      </p:sp>
      <p:sp>
        <p:nvSpPr>
          <p:cNvPr id="56" name="Text 7">
            <a:extLst>
              <a:ext uri="{FF2B5EF4-FFF2-40B4-BE49-F238E27FC236}">
                <a16:creationId xmlns:a16="http://schemas.microsoft.com/office/drawing/2014/main" id="{31D32B89-7524-1CFC-0232-666D5AD54A6E}"/>
              </a:ext>
            </a:extLst>
          </p:cNvPr>
          <p:cNvSpPr/>
          <p:nvPr/>
        </p:nvSpPr>
        <p:spPr>
          <a:xfrm>
            <a:off x="3986784" y="1851660"/>
            <a:ext cx="2926080" cy="128016"/>
          </a:xfrm>
          <a:prstGeom prst="rect">
            <a:avLst/>
          </a:prstGeom>
          <a:noFill/>
          <a:ln/>
        </p:spPr>
        <p:txBody>
          <a:bodyPr wrap="square" lIns="0" tIns="0" rIns="0" bIns="0" rtlCol="0" anchor="ctr"/>
          <a:lstStyle/>
          <a:p>
            <a:pPr marL="0" indent="0" algn="ctr">
              <a:buNone/>
            </a:pPr>
            <a:r>
              <a:rPr lang="en-US" sz="1200" b="1" dirty="0">
                <a:solidFill>
                  <a:srgbClr val="FFFFFF"/>
                </a:solidFill>
              </a:rPr>
              <a:t>Durable Functions</a:t>
            </a:r>
            <a:endParaRPr lang="en-US" sz="1200" dirty="0"/>
          </a:p>
        </p:txBody>
      </p:sp>
      <p:sp>
        <p:nvSpPr>
          <p:cNvPr id="58" name="Text 8">
            <a:extLst>
              <a:ext uri="{FF2B5EF4-FFF2-40B4-BE49-F238E27FC236}">
                <a16:creationId xmlns:a16="http://schemas.microsoft.com/office/drawing/2014/main" id="{3FE9030D-CDD3-A8E8-88B9-0F1679A1C500}"/>
              </a:ext>
            </a:extLst>
          </p:cNvPr>
          <p:cNvSpPr/>
          <p:nvPr/>
        </p:nvSpPr>
        <p:spPr>
          <a:xfrm>
            <a:off x="4096511" y="2473452"/>
            <a:ext cx="2999233" cy="2011680"/>
          </a:xfrm>
          <a:prstGeom prst="rect">
            <a:avLst/>
          </a:prstGeom>
          <a:noFill/>
          <a:ln/>
        </p:spPr>
        <p:txBody>
          <a:bodyPr wrap="square" lIns="254" tIns="254" rIns="254" bIns="254" rtlCol="0" anchor="ctr">
            <a:normAutofit/>
          </a:bodyPr>
          <a:lstStyle/>
          <a:p>
            <a:pPr marL="342900" indent="-342900">
              <a:buAutoNum type="arabicPeriod"/>
            </a:pPr>
            <a:r>
              <a:rPr lang="en-US" dirty="0">
                <a:solidFill>
                  <a:srgbClr val="1F2937"/>
                </a:solidFill>
              </a:rPr>
              <a:t>Submit &lt;$100 request</a:t>
            </a:r>
            <a:endParaRPr lang="en-US" dirty="0"/>
          </a:p>
          <a:p>
            <a:pPr marL="0" indent="0">
              <a:buNone/>
            </a:pPr>
            <a:r>
              <a:rPr lang="en-US" dirty="0">
                <a:solidFill>
                  <a:srgbClr val="1F2937"/>
                </a:solidFill>
              </a:rPr>
              <a:t>2. Submit &gt;=$100 and approve</a:t>
            </a:r>
            <a:endParaRPr lang="en-US" dirty="0"/>
          </a:p>
          <a:p>
            <a:pPr marL="0" indent="0">
              <a:buNone/>
            </a:pPr>
            <a:r>
              <a:rPr lang="en-US" dirty="0">
                <a:solidFill>
                  <a:srgbClr val="1F2937"/>
                </a:solidFill>
              </a:rPr>
              <a:t>3. Submit &gt;=$100 and reject</a:t>
            </a:r>
            <a:endParaRPr lang="en-US" dirty="0"/>
          </a:p>
          <a:p>
            <a:pPr marL="0" indent="0">
              <a:buNone/>
            </a:pPr>
            <a:r>
              <a:rPr lang="en-US" dirty="0">
                <a:solidFill>
                  <a:srgbClr val="1F2937"/>
                </a:solidFill>
              </a:rPr>
              <a:t>4. Let timer expire</a:t>
            </a:r>
            <a:endParaRPr lang="en-US" dirty="0"/>
          </a:p>
          <a:p>
            <a:pPr marL="0" indent="0">
              <a:buNone/>
            </a:pPr>
            <a:r>
              <a:rPr lang="en-US" dirty="0">
                <a:solidFill>
                  <a:srgbClr val="1F2937"/>
                </a:solidFill>
              </a:rPr>
              <a:t>5. Show validation error</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Version B : Logic Apps + Service Bus architecture</a:t>
            </a:r>
            <a:endParaRPr lang="en-US" sz="3000" dirty="0"/>
          </a:p>
        </p:txBody>
      </p:sp>
      <p:sp>
        <p:nvSpPr>
          <p:cNvPr id="6" name="Text 4"/>
          <p:cNvSpPr/>
          <p:nvPr/>
        </p:nvSpPr>
        <p:spPr>
          <a:xfrm>
            <a:off x="502920" y="774191"/>
            <a:ext cx="4042954" cy="370525"/>
          </a:xfrm>
          <a:prstGeom prst="rect">
            <a:avLst/>
          </a:prstGeom>
          <a:noFill/>
          <a:ln/>
        </p:spPr>
        <p:txBody>
          <a:bodyPr wrap="square" lIns="0" tIns="0" rIns="0" bIns="0" rtlCol="0" anchor="ctr"/>
          <a:lstStyle/>
          <a:p>
            <a:pPr marL="0" indent="0">
              <a:buNone/>
            </a:pPr>
            <a:r>
              <a:rPr lang="en-US" sz="1250" dirty="0">
                <a:solidFill>
                  <a:srgbClr val="64748B"/>
                </a:solidFill>
              </a:rPr>
              <a:t>Visual orchestration with queue, topic, filters, and email</a:t>
            </a:r>
            <a:endParaRPr lang="en-US" sz="1250" dirty="0"/>
          </a:p>
        </p:txBody>
      </p:sp>
      <p:sp>
        <p:nvSpPr>
          <p:cNvPr id="7" name="Shape 5"/>
          <p:cNvSpPr/>
          <p:nvPr/>
        </p:nvSpPr>
        <p:spPr>
          <a:xfrm>
            <a:off x="594360" y="1847088"/>
            <a:ext cx="1417320" cy="658368"/>
          </a:xfrm>
          <a:prstGeom prst="roundRect">
            <a:avLst>
              <a:gd name="adj" fmla="val 16667"/>
            </a:avLst>
          </a:prstGeom>
          <a:solidFill>
            <a:srgbClr val="EAF4FF"/>
          </a:solidFill>
          <a:ln w="12700">
            <a:solidFill>
              <a:srgbClr val="0078D4"/>
            </a:solidFill>
            <a:prstDash val="solid"/>
          </a:ln>
        </p:spPr>
      </p:sp>
      <p:sp>
        <p:nvSpPr>
          <p:cNvPr id="8" name="Text 6"/>
          <p:cNvSpPr/>
          <p:nvPr/>
        </p:nvSpPr>
        <p:spPr>
          <a:xfrm>
            <a:off x="704088" y="196596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HTTP</a:t>
            </a:r>
            <a:endParaRPr lang="en-US" sz="1050" dirty="0"/>
          </a:p>
          <a:p>
            <a:pPr marL="0" indent="0" algn="ctr">
              <a:buNone/>
            </a:pPr>
            <a:r>
              <a:rPr lang="en-US" sz="1050" b="1" dirty="0">
                <a:solidFill>
                  <a:srgbClr val="1F2937"/>
                </a:solidFill>
              </a:rPr>
              <a:t>Submit Function</a:t>
            </a:r>
            <a:endParaRPr lang="en-US" sz="1050" dirty="0"/>
          </a:p>
        </p:txBody>
      </p:sp>
      <p:sp>
        <p:nvSpPr>
          <p:cNvPr id="9" name="Shape 7"/>
          <p:cNvSpPr/>
          <p:nvPr/>
        </p:nvSpPr>
        <p:spPr>
          <a:xfrm>
            <a:off x="2423160" y="1847088"/>
            <a:ext cx="1417320" cy="658368"/>
          </a:xfrm>
          <a:prstGeom prst="roundRect">
            <a:avLst>
              <a:gd name="adj" fmla="val 16667"/>
            </a:avLst>
          </a:prstGeom>
          <a:solidFill>
            <a:srgbClr val="F3EEFA"/>
          </a:solidFill>
          <a:ln w="12700">
            <a:solidFill>
              <a:srgbClr val="5C2D91"/>
            </a:solidFill>
            <a:prstDash val="solid"/>
          </a:ln>
        </p:spPr>
      </p:sp>
      <p:sp>
        <p:nvSpPr>
          <p:cNvPr id="10" name="Text 8"/>
          <p:cNvSpPr/>
          <p:nvPr/>
        </p:nvSpPr>
        <p:spPr>
          <a:xfrm>
            <a:off x="2532888" y="196596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Service Bus</a:t>
            </a:r>
            <a:endParaRPr lang="en-US" sz="1050" dirty="0"/>
          </a:p>
          <a:p>
            <a:pPr marL="0" indent="0" algn="ctr">
              <a:buNone/>
            </a:pPr>
            <a:r>
              <a:rPr lang="en-US" sz="1050" b="1" dirty="0">
                <a:solidFill>
                  <a:srgbClr val="1F2937"/>
                </a:solidFill>
              </a:rPr>
              <a:t>Queue</a:t>
            </a:r>
            <a:endParaRPr lang="en-US" sz="1050" dirty="0"/>
          </a:p>
        </p:txBody>
      </p:sp>
      <p:sp>
        <p:nvSpPr>
          <p:cNvPr id="11" name="Shape 9"/>
          <p:cNvSpPr/>
          <p:nvPr/>
        </p:nvSpPr>
        <p:spPr>
          <a:xfrm>
            <a:off x="4251960" y="1847088"/>
            <a:ext cx="1417320" cy="658368"/>
          </a:xfrm>
          <a:prstGeom prst="roundRect">
            <a:avLst>
              <a:gd name="adj" fmla="val 16667"/>
            </a:avLst>
          </a:prstGeom>
          <a:solidFill>
            <a:srgbClr val="EEF5FD"/>
          </a:solidFill>
          <a:ln w="12700">
            <a:solidFill>
              <a:srgbClr val="0B1F33"/>
            </a:solidFill>
            <a:prstDash val="solid"/>
          </a:ln>
        </p:spPr>
      </p:sp>
      <p:sp>
        <p:nvSpPr>
          <p:cNvPr id="12" name="Text 10"/>
          <p:cNvSpPr/>
          <p:nvPr/>
        </p:nvSpPr>
        <p:spPr>
          <a:xfrm>
            <a:off x="4361688" y="196596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Logic App</a:t>
            </a:r>
            <a:endParaRPr lang="en-US" sz="1050" dirty="0"/>
          </a:p>
          <a:p>
            <a:pPr marL="0" indent="0" algn="ctr">
              <a:buNone/>
            </a:pPr>
            <a:r>
              <a:rPr lang="en-US" sz="1050" b="1" dirty="0">
                <a:solidFill>
                  <a:srgbClr val="1F2937"/>
                </a:solidFill>
              </a:rPr>
              <a:t>Workflow</a:t>
            </a:r>
            <a:endParaRPr lang="en-US" sz="1050" dirty="0"/>
          </a:p>
        </p:txBody>
      </p:sp>
      <p:sp>
        <p:nvSpPr>
          <p:cNvPr id="13" name="Shape 11"/>
          <p:cNvSpPr/>
          <p:nvPr/>
        </p:nvSpPr>
        <p:spPr>
          <a:xfrm>
            <a:off x="6080760" y="1847088"/>
            <a:ext cx="1417320" cy="658368"/>
          </a:xfrm>
          <a:prstGeom prst="roundRect">
            <a:avLst>
              <a:gd name="adj" fmla="val 16667"/>
            </a:avLst>
          </a:prstGeom>
          <a:solidFill>
            <a:srgbClr val="EAF9F7"/>
          </a:solidFill>
          <a:ln w="12700">
            <a:solidFill>
              <a:srgbClr val="008575"/>
            </a:solidFill>
            <a:prstDash val="solid"/>
          </a:ln>
        </p:spPr>
      </p:sp>
      <p:sp>
        <p:nvSpPr>
          <p:cNvPr id="14" name="Text 12"/>
          <p:cNvSpPr/>
          <p:nvPr/>
        </p:nvSpPr>
        <p:spPr>
          <a:xfrm>
            <a:off x="6190488" y="196596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Validation</a:t>
            </a:r>
            <a:endParaRPr lang="en-US" sz="1050" dirty="0"/>
          </a:p>
          <a:p>
            <a:pPr marL="0" indent="0" algn="ctr">
              <a:buNone/>
            </a:pPr>
            <a:r>
              <a:rPr lang="en-US" sz="1050" b="1" dirty="0">
                <a:solidFill>
                  <a:srgbClr val="1F2937"/>
                </a:solidFill>
              </a:rPr>
              <a:t>Function</a:t>
            </a:r>
            <a:endParaRPr lang="en-US" sz="1050" dirty="0"/>
          </a:p>
        </p:txBody>
      </p:sp>
      <p:sp>
        <p:nvSpPr>
          <p:cNvPr id="15" name="Shape 13"/>
          <p:cNvSpPr/>
          <p:nvPr/>
        </p:nvSpPr>
        <p:spPr>
          <a:xfrm>
            <a:off x="2011680" y="2176272"/>
            <a:ext cx="320040" cy="0"/>
          </a:xfrm>
          <a:prstGeom prst="line">
            <a:avLst/>
          </a:prstGeom>
          <a:noFill/>
          <a:ln w="19050">
            <a:solidFill>
              <a:srgbClr val="64748B"/>
            </a:solidFill>
            <a:prstDash val="solid"/>
            <a:headEnd type="none"/>
            <a:tailEnd type="triangle"/>
          </a:ln>
        </p:spPr>
      </p:sp>
      <p:sp>
        <p:nvSpPr>
          <p:cNvPr id="16" name="Shape 14"/>
          <p:cNvSpPr/>
          <p:nvPr/>
        </p:nvSpPr>
        <p:spPr>
          <a:xfrm>
            <a:off x="3840480" y="2176272"/>
            <a:ext cx="320040" cy="0"/>
          </a:xfrm>
          <a:prstGeom prst="line">
            <a:avLst/>
          </a:prstGeom>
          <a:noFill/>
          <a:ln w="19050">
            <a:solidFill>
              <a:srgbClr val="64748B"/>
            </a:solidFill>
            <a:prstDash val="solid"/>
            <a:headEnd type="none"/>
            <a:tailEnd type="triangle"/>
          </a:ln>
        </p:spPr>
      </p:sp>
      <p:sp>
        <p:nvSpPr>
          <p:cNvPr id="17" name="Shape 15"/>
          <p:cNvSpPr/>
          <p:nvPr/>
        </p:nvSpPr>
        <p:spPr>
          <a:xfrm>
            <a:off x="5669280" y="2176272"/>
            <a:ext cx="320040" cy="0"/>
          </a:xfrm>
          <a:prstGeom prst="line">
            <a:avLst/>
          </a:prstGeom>
          <a:noFill/>
          <a:ln w="19050">
            <a:solidFill>
              <a:srgbClr val="64748B"/>
            </a:solidFill>
            <a:prstDash val="solid"/>
            <a:headEnd type="none"/>
            <a:tailEnd type="triangle"/>
          </a:ln>
        </p:spPr>
      </p:sp>
      <p:sp>
        <p:nvSpPr>
          <p:cNvPr id="18" name="Shape 16"/>
          <p:cNvSpPr/>
          <p:nvPr/>
        </p:nvSpPr>
        <p:spPr>
          <a:xfrm>
            <a:off x="7498080" y="2176272"/>
            <a:ext cx="594360" cy="0"/>
          </a:xfrm>
          <a:prstGeom prst="line">
            <a:avLst/>
          </a:prstGeom>
          <a:noFill/>
          <a:ln w="19050">
            <a:solidFill>
              <a:srgbClr val="64748B"/>
            </a:solidFill>
            <a:prstDash val="solid"/>
            <a:headEnd type="none"/>
            <a:tailEnd type="triangle"/>
          </a:ln>
        </p:spPr>
      </p:sp>
      <p:sp>
        <p:nvSpPr>
          <p:cNvPr id="19" name="Shape 17"/>
          <p:cNvSpPr/>
          <p:nvPr/>
        </p:nvSpPr>
        <p:spPr>
          <a:xfrm>
            <a:off x="8183880" y="1847088"/>
            <a:ext cx="1417320" cy="658368"/>
          </a:xfrm>
          <a:prstGeom prst="roundRect">
            <a:avLst>
              <a:gd name="adj" fmla="val 16667"/>
            </a:avLst>
          </a:prstGeom>
          <a:solidFill>
            <a:srgbClr val="FFF4EA"/>
          </a:solidFill>
          <a:ln w="12700">
            <a:solidFill>
              <a:srgbClr val="F7630C"/>
            </a:solidFill>
            <a:prstDash val="solid"/>
          </a:ln>
        </p:spPr>
      </p:sp>
      <p:sp>
        <p:nvSpPr>
          <p:cNvPr id="20" name="Text 18"/>
          <p:cNvSpPr/>
          <p:nvPr/>
        </p:nvSpPr>
        <p:spPr>
          <a:xfrm>
            <a:off x="8293608" y="196596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Approval</a:t>
            </a:r>
            <a:endParaRPr lang="en-US" sz="1050" dirty="0"/>
          </a:p>
          <a:p>
            <a:pPr marL="0" indent="0" algn="ctr">
              <a:buNone/>
            </a:pPr>
            <a:r>
              <a:rPr lang="en-US" sz="1050" b="1" dirty="0">
                <a:solidFill>
                  <a:srgbClr val="1F2937"/>
                </a:solidFill>
              </a:rPr>
              <a:t>Logic</a:t>
            </a:r>
            <a:endParaRPr lang="en-US" sz="1050" dirty="0"/>
          </a:p>
        </p:txBody>
      </p:sp>
      <p:sp>
        <p:nvSpPr>
          <p:cNvPr id="21" name="Shape 19"/>
          <p:cNvSpPr/>
          <p:nvPr/>
        </p:nvSpPr>
        <p:spPr>
          <a:xfrm>
            <a:off x="8915400" y="2505456"/>
            <a:ext cx="0" cy="484632"/>
          </a:xfrm>
          <a:prstGeom prst="line">
            <a:avLst/>
          </a:prstGeom>
          <a:noFill/>
          <a:ln w="19050">
            <a:solidFill>
              <a:srgbClr val="64748B"/>
            </a:solidFill>
            <a:prstDash val="solid"/>
            <a:headEnd type="none"/>
            <a:tailEnd type="triangle"/>
          </a:ln>
        </p:spPr>
      </p:sp>
      <p:sp>
        <p:nvSpPr>
          <p:cNvPr id="22" name="Shape 20"/>
          <p:cNvSpPr/>
          <p:nvPr/>
        </p:nvSpPr>
        <p:spPr>
          <a:xfrm>
            <a:off x="8183880" y="3081528"/>
            <a:ext cx="1417320" cy="658368"/>
          </a:xfrm>
          <a:prstGeom prst="roundRect">
            <a:avLst>
              <a:gd name="adj" fmla="val 16667"/>
            </a:avLst>
          </a:prstGeom>
          <a:solidFill>
            <a:srgbClr val="FFF8DA"/>
          </a:solidFill>
          <a:ln w="12700">
            <a:solidFill>
              <a:srgbClr val="FFB900"/>
            </a:solidFill>
            <a:prstDash val="solid"/>
          </a:ln>
        </p:spPr>
      </p:sp>
      <p:sp>
        <p:nvSpPr>
          <p:cNvPr id="23" name="Text 21"/>
          <p:cNvSpPr/>
          <p:nvPr/>
        </p:nvSpPr>
        <p:spPr>
          <a:xfrm>
            <a:off x="8293608" y="320040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Outcomes</a:t>
            </a:r>
            <a:endParaRPr lang="en-US" sz="1050" dirty="0"/>
          </a:p>
          <a:p>
            <a:pPr marL="0" indent="0" algn="ctr">
              <a:buNone/>
            </a:pPr>
            <a:r>
              <a:rPr lang="en-US" sz="1050" b="1" dirty="0">
                <a:solidFill>
                  <a:srgbClr val="1F2937"/>
                </a:solidFill>
              </a:rPr>
              <a:t>Topic</a:t>
            </a:r>
            <a:endParaRPr lang="en-US" sz="1050" dirty="0"/>
          </a:p>
        </p:txBody>
      </p:sp>
      <p:sp>
        <p:nvSpPr>
          <p:cNvPr id="24" name="Shape 22"/>
          <p:cNvSpPr/>
          <p:nvPr/>
        </p:nvSpPr>
        <p:spPr>
          <a:xfrm>
            <a:off x="8915400" y="3756660"/>
            <a:ext cx="0" cy="696464"/>
          </a:xfrm>
          <a:prstGeom prst="line">
            <a:avLst/>
          </a:prstGeom>
          <a:noFill/>
          <a:ln w="19050">
            <a:solidFill>
              <a:srgbClr val="64748B"/>
            </a:solidFill>
            <a:prstDash val="solid"/>
            <a:headEnd type="none"/>
            <a:tailEnd type="triangle"/>
          </a:ln>
        </p:spPr>
      </p:sp>
      <p:sp>
        <p:nvSpPr>
          <p:cNvPr id="27" name="Shape 25"/>
          <p:cNvSpPr/>
          <p:nvPr/>
        </p:nvSpPr>
        <p:spPr>
          <a:xfrm>
            <a:off x="3383280" y="4562638"/>
            <a:ext cx="1828800" cy="658368"/>
          </a:xfrm>
          <a:prstGeom prst="roundRect">
            <a:avLst>
              <a:gd name="adj" fmla="val 16667"/>
            </a:avLst>
          </a:prstGeom>
          <a:solidFill>
            <a:srgbClr val="EAF7EA"/>
          </a:solidFill>
          <a:ln w="12700">
            <a:solidFill>
              <a:srgbClr val="107C10"/>
            </a:solidFill>
            <a:prstDash val="solid"/>
          </a:ln>
        </p:spPr>
      </p:sp>
      <p:sp>
        <p:nvSpPr>
          <p:cNvPr id="28" name="Text 26"/>
          <p:cNvSpPr/>
          <p:nvPr/>
        </p:nvSpPr>
        <p:spPr>
          <a:xfrm>
            <a:off x="3493008" y="4681510"/>
            <a:ext cx="1609344" cy="493776"/>
          </a:xfrm>
          <a:prstGeom prst="rect">
            <a:avLst/>
          </a:prstGeom>
          <a:noFill/>
          <a:ln/>
        </p:spPr>
        <p:txBody>
          <a:bodyPr wrap="square" lIns="0" tIns="0" rIns="0" bIns="0" rtlCol="0" anchor="ctr"/>
          <a:lstStyle/>
          <a:p>
            <a:pPr marL="0" indent="0" algn="ctr">
              <a:buNone/>
            </a:pPr>
            <a:r>
              <a:rPr lang="en-US" sz="1050" b="1" dirty="0">
                <a:solidFill>
                  <a:srgbClr val="1F2937"/>
                </a:solidFill>
              </a:rPr>
              <a:t>approved</a:t>
            </a:r>
            <a:endParaRPr lang="en-US" sz="1050" dirty="0"/>
          </a:p>
          <a:p>
            <a:pPr marL="0" indent="0" algn="ctr">
              <a:buNone/>
            </a:pPr>
            <a:r>
              <a:rPr lang="en-US" sz="1050" b="1" dirty="0">
                <a:solidFill>
                  <a:srgbClr val="1F2937"/>
                </a:solidFill>
              </a:rPr>
              <a:t>subscription</a:t>
            </a:r>
            <a:endParaRPr lang="en-US" sz="1050" dirty="0"/>
          </a:p>
        </p:txBody>
      </p:sp>
      <p:sp>
        <p:nvSpPr>
          <p:cNvPr id="29" name="Shape 27"/>
          <p:cNvSpPr/>
          <p:nvPr/>
        </p:nvSpPr>
        <p:spPr>
          <a:xfrm>
            <a:off x="5486400" y="4560243"/>
            <a:ext cx="1828800" cy="658368"/>
          </a:xfrm>
          <a:prstGeom prst="roundRect">
            <a:avLst>
              <a:gd name="adj" fmla="val 16667"/>
            </a:avLst>
          </a:prstGeom>
          <a:solidFill>
            <a:srgbClr val="FDEEEF"/>
          </a:solidFill>
          <a:ln w="12700">
            <a:solidFill>
              <a:srgbClr val="D13438"/>
            </a:solidFill>
            <a:prstDash val="solid"/>
          </a:ln>
        </p:spPr>
      </p:sp>
      <p:sp>
        <p:nvSpPr>
          <p:cNvPr id="30" name="Text 28"/>
          <p:cNvSpPr/>
          <p:nvPr/>
        </p:nvSpPr>
        <p:spPr>
          <a:xfrm>
            <a:off x="5596128" y="4679115"/>
            <a:ext cx="1609344" cy="493776"/>
          </a:xfrm>
          <a:prstGeom prst="rect">
            <a:avLst/>
          </a:prstGeom>
          <a:noFill/>
          <a:ln/>
        </p:spPr>
        <p:txBody>
          <a:bodyPr wrap="square" lIns="0" tIns="0" rIns="0" bIns="0" rtlCol="0" anchor="ctr"/>
          <a:lstStyle/>
          <a:p>
            <a:pPr marL="0" indent="0" algn="ctr">
              <a:buNone/>
            </a:pPr>
            <a:r>
              <a:rPr lang="en-US" sz="1050" b="1" dirty="0">
                <a:solidFill>
                  <a:srgbClr val="1F2937"/>
                </a:solidFill>
              </a:rPr>
              <a:t>rejected</a:t>
            </a:r>
            <a:endParaRPr lang="en-US" sz="1050" dirty="0"/>
          </a:p>
          <a:p>
            <a:pPr marL="0" indent="0" algn="ctr">
              <a:buNone/>
            </a:pPr>
            <a:r>
              <a:rPr lang="en-US" sz="1050" b="1" dirty="0">
                <a:solidFill>
                  <a:srgbClr val="1F2937"/>
                </a:solidFill>
              </a:rPr>
              <a:t>subscription</a:t>
            </a:r>
            <a:endParaRPr lang="en-US" sz="1050" dirty="0"/>
          </a:p>
        </p:txBody>
      </p:sp>
      <p:sp>
        <p:nvSpPr>
          <p:cNvPr id="31" name="Shape 29"/>
          <p:cNvSpPr/>
          <p:nvPr/>
        </p:nvSpPr>
        <p:spPr>
          <a:xfrm>
            <a:off x="7589520" y="4544568"/>
            <a:ext cx="1828800" cy="658368"/>
          </a:xfrm>
          <a:prstGeom prst="roundRect">
            <a:avLst>
              <a:gd name="adj" fmla="val 16667"/>
            </a:avLst>
          </a:prstGeom>
          <a:solidFill>
            <a:srgbClr val="FFF4EA"/>
          </a:solidFill>
          <a:ln w="12700">
            <a:solidFill>
              <a:srgbClr val="F7630C"/>
            </a:solidFill>
            <a:prstDash val="solid"/>
          </a:ln>
        </p:spPr>
      </p:sp>
      <p:sp>
        <p:nvSpPr>
          <p:cNvPr id="32" name="Text 30"/>
          <p:cNvSpPr/>
          <p:nvPr/>
        </p:nvSpPr>
        <p:spPr>
          <a:xfrm>
            <a:off x="7699248" y="4663440"/>
            <a:ext cx="1609344" cy="493776"/>
          </a:xfrm>
          <a:prstGeom prst="rect">
            <a:avLst/>
          </a:prstGeom>
          <a:noFill/>
          <a:ln/>
        </p:spPr>
        <p:txBody>
          <a:bodyPr wrap="square" lIns="0" tIns="0" rIns="0" bIns="0" rtlCol="0" anchor="ctr"/>
          <a:lstStyle/>
          <a:p>
            <a:pPr marL="0" indent="0" algn="ctr">
              <a:buNone/>
            </a:pPr>
            <a:r>
              <a:rPr lang="en-US" sz="1050" b="1" dirty="0">
                <a:solidFill>
                  <a:srgbClr val="1F2937"/>
                </a:solidFill>
              </a:rPr>
              <a:t>escalated</a:t>
            </a:r>
            <a:endParaRPr lang="en-US" sz="1050" dirty="0"/>
          </a:p>
          <a:p>
            <a:pPr marL="0" indent="0" algn="ctr">
              <a:buNone/>
            </a:pPr>
            <a:r>
              <a:rPr lang="en-US" sz="1050" b="1" dirty="0">
                <a:solidFill>
                  <a:srgbClr val="1F2937"/>
                </a:solidFill>
              </a:rPr>
              <a:t>subscription</a:t>
            </a:r>
            <a:endParaRPr lang="en-US" sz="1050" dirty="0"/>
          </a:p>
        </p:txBody>
      </p:sp>
      <p:sp>
        <p:nvSpPr>
          <p:cNvPr id="33" name="Shape 31"/>
          <p:cNvSpPr/>
          <p:nvPr/>
        </p:nvSpPr>
        <p:spPr>
          <a:xfrm>
            <a:off x="9966960" y="4544568"/>
            <a:ext cx="1417320" cy="658368"/>
          </a:xfrm>
          <a:prstGeom prst="roundRect">
            <a:avLst>
              <a:gd name="adj" fmla="val 16667"/>
            </a:avLst>
          </a:prstGeom>
          <a:solidFill>
            <a:srgbClr val="EAF7EA"/>
          </a:solidFill>
          <a:ln w="12700">
            <a:solidFill>
              <a:srgbClr val="107C10"/>
            </a:solidFill>
            <a:prstDash val="solid"/>
          </a:ln>
        </p:spPr>
      </p:sp>
      <p:sp>
        <p:nvSpPr>
          <p:cNvPr id="34" name="Text 32"/>
          <p:cNvSpPr/>
          <p:nvPr/>
        </p:nvSpPr>
        <p:spPr>
          <a:xfrm>
            <a:off x="10076688" y="4663440"/>
            <a:ext cx="1197864" cy="493776"/>
          </a:xfrm>
          <a:prstGeom prst="rect">
            <a:avLst/>
          </a:prstGeom>
          <a:noFill/>
          <a:ln/>
        </p:spPr>
        <p:txBody>
          <a:bodyPr wrap="square" lIns="0" tIns="0" rIns="0" bIns="0" rtlCol="0" anchor="ctr"/>
          <a:lstStyle/>
          <a:p>
            <a:pPr marL="0" indent="0" algn="ctr">
              <a:buNone/>
            </a:pPr>
            <a:r>
              <a:rPr lang="en-US" sz="1050" b="1" dirty="0">
                <a:solidFill>
                  <a:srgbClr val="1F2937"/>
                </a:solidFill>
              </a:rPr>
              <a:t>Employee</a:t>
            </a:r>
            <a:endParaRPr lang="en-US" sz="1050" dirty="0"/>
          </a:p>
          <a:p>
            <a:pPr marL="0" indent="0" algn="ctr">
              <a:buNone/>
            </a:pPr>
            <a:r>
              <a:rPr lang="en-US" sz="1050" b="1" dirty="0">
                <a:solidFill>
                  <a:srgbClr val="1F2937"/>
                </a:solidFill>
              </a:rPr>
              <a:t>Email</a:t>
            </a:r>
            <a:endParaRPr lang="en-US" sz="1050" dirty="0"/>
          </a:p>
        </p:txBody>
      </p:sp>
      <p:sp>
        <p:nvSpPr>
          <p:cNvPr id="35" name="Shape 33"/>
          <p:cNvSpPr/>
          <p:nvPr/>
        </p:nvSpPr>
        <p:spPr>
          <a:xfrm>
            <a:off x="9418320" y="4873752"/>
            <a:ext cx="457200" cy="0"/>
          </a:xfrm>
          <a:prstGeom prst="line">
            <a:avLst/>
          </a:prstGeom>
          <a:noFill/>
          <a:ln w="19050">
            <a:solidFill>
              <a:srgbClr val="107C10"/>
            </a:solidFill>
            <a:prstDash val="solid"/>
            <a:headEnd type="none"/>
            <a:tailEnd type="triangle"/>
          </a:ln>
        </p:spPr>
      </p:sp>
      <p:sp>
        <p:nvSpPr>
          <p:cNvPr id="36" name="Shape 34"/>
          <p:cNvSpPr/>
          <p:nvPr/>
        </p:nvSpPr>
        <p:spPr>
          <a:xfrm>
            <a:off x="3326891" y="3536776"/>
            <a:ext cx="3139222" cy="658368"/>
          </a:xfrm>
          <a:prstGeom prst="roundRect">
            <a:avLst>
              <a:gd name="adj" fmla="val 20000"/>
            </a:avLst>
          </a:prstGeom>
          <a:solidFill>
            <a:srgbClr val="FFFFFF"/>
          </a:solidFill>
          <a:ln w="12700">
            <a:solidFill>
              <a:srgbClr val="D8E3EE"/>
            </a:solidFill>
            <a:prstDash val="solid"/>
          </a:ln>
        </p:spPr>
      </p:sp>
      <p:sp>
        <p:nvSpPr>
          <p:cNvPr id="37" name="Text 35"/>
          <p:cNvSpPr/>
          <p:nvPr/>
        </p:nvSpPr>
        <p:spPr>
          <a:xfrm>
            <a:off x="3181022" y="3692216"/>
            <a:ext cx="3424646" cy="331589"/>
          </a:xfrm>
          <a:prstGeom prst="rect">
            <a:avLst/>
          </a:prstGeom>
          <a:noFill/>
          <a:ln/>
        </p:spPr>
        <p:txBody>
          <a:bodyPr wrap="square" lIns="0" tIns="0" rIns="0" bIns="0" rtlCol="0" anchor="ctr"/>
          <a:lstStyle/>
          <a:p>
            <a:pPr marL="0" indent="0" algn="ctr">
              <a:buNone/>
            </a:pPr>
            <a:r>
              <a:rPr lang="en-US" sz="1200" b="1" dirty="0">
                <a:solidFill>
                  <a:srgbClr val="0B1F33"/>
                </a:solidFill>
              </a:rPr>
              <a:t>Filter rule used for each topic subscription: outcome = approved / rejected / escalated</a:t>
            </a:r>
            <a:endParaRPr lang="en-US" sz="1200" dirty="0"/>
          </a:p>
        </p:txBody>
      </p:sp>
      <p:sp>
        <p:nvSpPr>
          <p:cNvPr id="39" name="Text 36"/>
          <p:cNvSpPr/>
          <p:nvPr/>
        </p:nvSpPr>
        <p:spPr>
          <a:xfrm>
            <a:off x="502920" y="7141464"/>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5</a:t>
            </a:r>
            <a:endParaRPr lang="en-US" sz="750" dirty="0"/>
          </a:p>
        </p:txBody>
      </p:sp>
      <p:sp>
        <p:nvSpPr>
          <p:cNvPr id="40" name="Shape 24">
            <a:extLst>
              <a:ext uri="{FF2B5EF4-FFF2-40B4-BE49-F238E27FC236}">
                <a16:creationId xmlns:a16="http://schemas.microsoft.com/office/drawing/2014/main" id="{5E2BCB1D-479F-BA46-08CF-74073D15908C}"/>
              </a:ext>
            </a:extLst>
          </p:cNvPr>
          <p:cNvSpPr/>
          <p:nvPr/>
        </p:nvSpPr>
        <p:spPr>
          <a:xfrm flipH="1">
            <a:off x="7088776" y="3756659"/>
            <a:ext cx="1700350" cy="703000"/>
          </a:xfrm>
          <a:prstGeom prst="line">
            <a:avLst/>
          </a:prstGeom>
          <a:noFill/>
          <a:ln w="19050">
            <a:solidFill>
              <a:srgbClr val="64748B"/>
            </a:solidFill>
            <a:prstDash val="solid"/>
            <a:headEnd type="none"/>
            <a:tailEnd type="triangle"/>
          </a:ln>
        </p:spPr>
      </p:sp>
      <p:sp>
        <p:nvSpPr>
          <p:cNvPr id="42" name="Shape 24">
            <a:extLst>
              <a:ext uri="{FF2B5EF4-FFF2-40B4-BE49-F238E27FC236}">
                <a16:creationId xmlns:a16="http://schemas.microsoft.com/office/drawing/2014/main" id="{C59DAE88-1DD7-FA7F-E1CC-45A44CE92D99}"/>
              </a:ext>
            </a:extLst>
          </p:cNvPr>
          <p:cNvSpPr/>
          <p:nvPr/>
        </p:nvSpPr>
        <p:spPr>
          <a:xfrm flipH="1">
            <a:off x="5102351" y="3756660"/>
            <a:ext cx="3403745" cy="742180"/>
          </a:xfrm>
          <a:prstGeom prst="line">
            <a:avLst/>
          </a:prstGeom>
          <a:noFill/>
          <a:ln w="19050">
            <a:solidFill>
              <a:srgbClr val="64748B"/>
            </a:solidFill>
            <a:prstDash val="solid"/>
            <a:headEnd type="none"/>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Version B : Workflow design decisions</a:t>
            </a:r>
            <a:endParaRPr lang="en-US" sz="3000" dirty="0"/>
          </a:p>
        </p:txBody>
      </p:sp>
      <p:sp>
        <p:nvSpPr>
          <p:cNvPr id="7" name="Shape 5"/>
          <p:cNvSpPr/>
          <p:nvPr/>
        </p:nvSpPr>
        <p:spPr>
          <a:xfrm>
            <a:off x="530352" y="1962041"/>
            <a:ext cx="4983480" cy="841248"/>
          </a:xfrm>
          <a:prstGeom prst="roundRect">
            <a:avLst>
              <a:gd name="adj" fmla="val 13043"/>
            </a:avLst>
          </a:prstGeom>
          <a:solidFill>
            <a:srgbClr val="EAF4FF"/>
          </a:solidFill>
          <a:ln w="12700">
            <a:solidFill>
              <a:srgbClr val="0078D4"/>
            </a:solidFill>
            <a:prstDash val="solid"/>
          </a:ln>
        </p:spPr>
      </p:sp>
      <p:sp>
        <p:nvSpPr>
          <p:cNvPr id="8" name="Shape 6"/>
          <p:cNvSpPr/>
          <p:nvPr/>
        </p:nvSpPr>
        <p:spPr>
          <a:xfrm>
            <a:off x="694944" y="2163209"/>
            <a:ext cx="411480" cy="411480"/>
          </a:xfrm>
          <a:prstGeom prst="ellipse">
            <a:avLst/>
          </a:prstGeom>
          <a:solidFill>
            <a:srgbClr val="0078D4"/>
          </a:solidFill>
          <a:ln w="12700">
            <a:solidFill>
              <a:srgbClr val="0078D4"/>
            </a:solidFill>
            <a:prstDash val="solid"/>
          </a:ln>
        </p:spPr>
      </p:sp>
      <p:sp>
        <p:nvSpPr>
          <p:cNvPr id="9" name="Text 7"/>
          <p:cNvSpPr/>
          <p:nvPr/>
        </p:nvSpPr>
        <p:spPr>
          <a:xfrm>
            <a:off x="694944" y="2272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Text 8"/>
          <p:cNvSpPr/>
          <p:nvPr/>
        </p:nvSpPr>
        <p:spPr>
          <a:xfrm>
            <a:off x="1243584" y="2126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Incoming queue trigger</a:t>
            </a:r>
            <a:endParaRPr lang="en-US" sz="1200" dirty="0"/>
          </a:p>
        </p:txBody>
      </p:sp>
      <p:sp>
        <p:nvSpPr>
          <p:cNvPr id="11" name="Text 9"/>
          <p:cNvSpPr/>
          <p:nvPr/>
        </p:nvSpPr>
        <p:spPr>
          <a:xfrm>
            <a:off x="1243584" y="2400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Service Bus queue receives all new expense requests.</a:t>
            </a:r>
            <a:endParaRPr lang="en-US" sz="1200" dirty="0"/>
          </a:p>
        </p:txBody>
      </p:sp>
      <p:sp>
        <p:nvSpPr>
          <p:cNvPr id="12" name="Shape 10"/>
          <p:cNvSpPr/>
          <p:nvPr/>
        </p:nvSpPr>
        <p:spPr>
          <a:xfrm>
            <a:off x="530352" y="3105041"/>
            <a:ext cx="4983480" cy="841248"/>
          </a:xfrm>
          <a:prstGeom prst="roundRect">
            <a:avLst>
              <a:gd name="adj" fmla="val 13043"/>
            </a:avLst>
          </a:prstGeom>
          <a:solidFill>
            <a:srgbClr val="EAF9F7"/>
          </a:solidFill>
          <a:ln w="12700">
            <a:solidFill>
              <a:srgbClr val="008575"/>
            </a:solidFill>
            <a:prstDash val="solid"/>
          </a:ln>
        </p:spPr>
      </p:sp>
      <p:sp>
        <p:nvSpPr>
          <p:cNvPr id="13" name="Shape 11"/>
          <p:cNvSpPr/>
          <p:nvPr/>
        </p:nvSpPr>
        <p:spPr>
          <a:xfrm>
            <a:off x="694944" y="3306209"/>
            <a:ext cx="411480" cy="411480"/>
          </a:xfrm>
          <a:prstGeom prst="ellipse">
            <a:avLst/>
          </a:prstGeom>
          <a:solidFill>
            <a:srgbClr val="008575"/>
          </a:solidFill>
          <a:ln w="12700">
            <a:solidFill>
              <a:srgbClr val="008575"/>
            </a:solidFill>
            <a:prstDash val="solid"/>
          </a:ln>
        </p:spPr>
      </p:sp>
      <p:sp>
        <p:nvSpPr>
          <p:cNvPr id="14" name="Text 12"/>
          <p:cNvSpPr/>
          <p:nvPr/>
        </p:nvSpPr>
        <p:spPr>
          <a:xfrm>
            <a:off x="694944" y="3415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5" name="Text 13"/>
          <p:cNvSpPr/>
          <p:nvPr/>
        </p:nvSpPr>
        <p:spPr>
          <a:xfrm>
            <a:off x="1243584" y="3269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Validation Function</a:t>
            </a:r>
            <a:endParaRPr lang="en-US" sz="1200" dirty="0"/>
          </a:p>
        </p:txBody>
      </p:sp>
      <p:sp>
        <p:nvSpPr>
          <p:cNvPr id="16" name="Text 14"/>
          <p:cNvSpPr/>
          <p:nvPr/>
        </p:nvSpPr>
        <p:spPr>
          <a:xfrm>
            <a:off x="1243584" y="3543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Logic App calls Python validation through HTTP.</a:t>
            </a:r>
            <a:endParaRPr lang="en-US" sz="1200" dirty="0"/>
          </a:p>
        </p:txBody>
      </p:sp>
      <p:sp>
        <p:nvSpPr>
          <p:cNvPr id="17" name="Shape 15"/>
          <p:cNvSpPr/>
          <p:nvPr/>
        </p:nvSpPr>
        <p:spPr>
          <a:xfrm>
            <a:off x="530352" y="4248041"/>
            <a:ext cx="4983480" cy="841248"/>
          </a:xfrm>
          <a:prstGeom prst="roundRect">
            <a:avLst>
              <a:gd name="adj" fmla="val 13043"/>
            </a:avLst>
          </a:prstGeom>
          <a:solidFill>
            <a:srgbClr val="EAF7EA"/>
          </a:solidFill>
          <a:ln w="12700">
            <a:solidFill>
              <a:srgbClr val="107C10"/>
            </a:solidFill>
            <a:prstDash val="solid"/>
          </a:ln>
        </p:spPr>
      </p:sp>
      <p:sp>
        <p:nvSpPr>
          <p:cNvPr id="18" name="Shape 16"/>
          <p:cNvSpPr/>
          <p:nvPr/>
        </p:nvSpPr>
        <p:spPr>
          <a:xfrm>
            <a:off x="694944" y="4449209"/>
            <a:ext cx="411480" cy="411480"/>
          </a:xfrm>
          <a:prstGeom prst="ellipse">
            <a:avLst/>
          </a:prstGeom>
          <a:solidFill>
            <a:srgbClr val="107C10"/>
          </a:solidFill>
          <a:ln w="12700">
            <a:solidFill>
              <a:srgbClr val="107C10"/>
            </a:solidFill>
            <a:prstDash val="solid"/>
          </a:ln>
        </p:spPr>
      </p:sp>
      <p:sp>
        <p:nvSpPr>
          <p:cNvPr id="19" name="Text 17"/>
          <p:cNvSpPr/>
          <p:nvPr/>
        </p:nvSpPr>
        <p:spPr>
          <a:xfrm>
            <a:off x="694944" y="4558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0" name="Text 18"/>
          <p:cNvSpPr/>
          <p:nvPr/>
        </p:nvSpPr>
        <p:spPr>
          <a:xfrm>
            <a:off x="1243584" y="4412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Amount condition</a:t>
            </a:r>
            <a:endParaRPr lang="en-US" sz="1200" dirty="0"/>
          </a:p>
        </p:txBody>
      </p:sp>
      <p:sp>
        <p:nvSpPr>
          <p:cNvPr id="21" name="Text 19"/>
          <p:cNvSpPr/>
          <p:nvPr/>
        </p:nvSpPr>
        <p:spPr>
          <a:xfrm>
            <a:off x="1243584" y="4686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Under $100 goes directly to approved outcome.</a:t>
            </a:r>
            <a:endParaRPr lang="en-US" sz="1200" dirty="0"/>
          </a:p>
        </p:txBody>
      </p:sp>
      <p:sp>
        <p:nvSpPr>
          <p:cNvPr id="22" name="Shape 20"/>
          <p:cNvSpPr/>
          <p:nvPr/>
        </p:nvSpPr>
        <p:spPr>
          <a:xfrm>
            <a:off x="6245352" y="1962041"/>
            <a:ext cx="4983480" cy="841248"/>
          </a:xfrm>
          <a:prstGeom prst="roundRect">
            <a:avLst>
              <a:gd name="adj" fmla="val 13043"/>
            </a:avLst>
          </a:prstGeom>
          <a:solidFill>
            <a:srgbClr val="FFF4EA"/>
          </a:solidFill>
          <a:ln w="12700">
            <a:solidFill>
              <a:srgbClr val="F7630C"/>
            </a:solidFill>
            <a:prstDash val="solid"/>
          </a:ln>
        </p:spPr>
      </p:sp>
      <p:sp>
        <p:nvSpPr>
          <p:cNvPr id="23" name="Shape 21"/>
          <p:cNvSpPr/>
          <p:nvPr/>
        </p:nvSpPr>
        <p:spPr>
          <a:xfrm>
            <a:off x="6409944" y="2163209"/>
            <a:ext cx="411480" cy="411480"/>
          </a:xfrm>
          <a:prstGeom prst="ellipse">
            <a:avLst/>
          </a:prstGeom>
          <a:solidFill>
            <a:srgbClr val="F7630C"/>
          </a:solidFill>
          <a:ln w="12700">
            <a:solidFill>
              <a:srgbClr val="F7630C"/>
            </a:solidFill>
            <a:prstDash val="solid"/>
          </a:ln>
        </p:spPr>
      </p:sp>
      <p:sp>
        <p:nvSpPr>
          <p:cNvPr id="24" name="Text 22"/>
          <p:cNvSpPr/>
          <p:nvPr/>
        </p:nvSpPr>
        <p:spPr>
          <a:xfrm>
            <a:off x="6409944" y="2272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6958584" y="2126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Manager email options</a:t>
            </a:r>
            <a:endParaRPr lang="en-US" sz="1200" dirty="0"/>
          </a:p>
        </p:txBody>
      </p:sp>
      <p:sp>
        <p:nvSpPr>
          <p:cNvPr id="26" name="Text 24"/>
          <p:cNvSpPr/>
          <p:nvPr/>
        </p:nvSpPr>
        <p:spPr>
          <a:xfrm>
            <a:off x="6958584" y="2400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Approve/Reject handled with Outlook action.</a:t>
            </a:r>
            <a:endParaRPr lang="en-US" sz="1200" dirty="0"/>
          </a:p>
        </p:txBody>
      </p:sp>
      <p:sp>
        <p:nvSpPr>
          <p:cNvPr id="27" name="Shape 25"/>
          <p:cNvSpPr/>
          <p:nvPr/>
        </p:nvSpPr>
        <p:spPr>
          <a:xfrm>
            <a:off x="6245352" y="3105041"/>
            <a:ext cx="4983480" cy="841248"/>
          </a:xfrm>
          <a:prstGeom prst="roundRect">
            <a:avLst>
              <a:gd name="adj" fmla="val 13043"/>
            </a:avLst>
          </a:prstGeom>
          <a:solidFill>
            <a:srgbClr val="FFF8DA"/>
          </a:solidFill>
          <a:ln w="12700">
            <a:solidFill>
              <a:srgbClr val="FFB900"/>
            </a:solidFill>
            <a:prstDash val="solid"/>
          </a:ln>
        </p:spPr>
      </p:sp>
      <p:sp>
        <p:nvSpPr>
          <p:cNvPr id="28" name="Shape 26"/>
          <p:cNvSpPr/>
          <p:nvPr/>
        </p:nvSpPr>
        <p:spPr>
          <a:xfrm>
            <a:off x="6409944" y="3306209"/>
            <a:ext cx="411480" cy="411480"/>
          </a:xfrm>
          <a:prstGeom prst="ellipse">
            <a:avLst/>
          </a:prstGeom>
          <a:solidFill>
            <a:srgbClr val="FFB900"/>
          </a:solidFill>
          <a:ln w="12700">
            <a:solidFill>
              <a:srgbClr val="FFB900"/>
            </a:solidFill>
            <a:prstDash val="solid"/>
          </a:ln>
        </p:spPr>
      </p:sp>
      <p:sp>
        <p:nvSpPr>
          <p:cNvPr id="29" name="Text 27"/>
          <p:cNvSpPr/>
          <p:nvPr/>
        </p:nvSpPr>
        <p:spPr>
          <a:xfrm>
            <a:off x="6409944" y="3415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0" name="Text 28"/>
          <p:cNvSpPr/>
          <p:nvPr/>
        </p:nvSpPr>
        <p:spPr>
          <a:xfrm>
            <a:off x="6958584" y="3269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Timeout path</a:t>
            </a:r>
            <a:endParaRPr lang="en-US" sz="1200" dirty="0"/>
          </a:p>
        </p:txBody>
      </p:sp>
      <p:sp>
        <p:nvSpPr>
          <p:cNvPr id="31" name="Text 29"/>
          <p:cNvSpPr/>
          <p:nvPr/>
        </p:nvSpPr>
        <p:spPr>
          <a:xfrm>
            <a:off x="6958584" y="3543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No response becomes approved + escalated.</a:t>
            </a:r>
            <a:endParaRPr lang="en-US" sz="1200" dirty="0"/>
          </a:p>
        </p:txBody>
      </p:sp>
      <p:sp>
        <p:nvSpPr>
          <p:cNvPr id="32" name="Shape 30"/>
          <p:cNvSpPr/>
          <p:nvPr/>
        </p:nvSpPr>
        <p:spPr>
          <a:xfrm>
            <a:off x="6245352" y="4248041"/>
            <a:ext cx="4983480" cy="841248"/>
          </a:xfrm>
          <a:prstGeom prst="roundRect">
            <a:avLst>
              <a:gd name="adj" fmla="val 13043"/>
            </a:avLst>
          </a:prstGeom>
          <a:solidFill>
            <a:srgbClr val="F3EEFA"/>
          </a:solidFill>
          <a:ln w="12700">
            <a:solidFill>
              <a:srgbClr val="5C2D91"/>
            </a:solidFill>
            <a:prstDash val="solid"/>
          </a:ln>
        </p:spPr>
      </p:sp>
      <p:sp>
        <p:nvSpPr>
          <p:cNvPr id="33" name="Shape 31"/>
          <p:cNvSpPr/>
          <p:nvPr/>
        </p:nvSpPr>
        <p:spPr>
          <a:xfrm>
            <a:off x="6409944" y="4449209"/>
            <a:ext cx="411480" cy="411480"/>
          </a:xfrm>
          <a:prstGeom prst="ellipse">
            <a:avLst/>
          </a:prstGeom>
          <a:solidFill>
            <a:srgbClr val="5C2D91"/>
          </a:solidFill>
          <a:ln w="12700">
            <a:solidFill>
              <a:srgbClr val="5C2D91"/>
            </a:solidFill>
            <a:prstDash val="solid"/>
          </a:ln>
        </p:spPr>
      </p:sp>
      <p:sp>
        <p:nvSpPr>
          <p:cNvPr id="34" name="Text 32"/>
          <p:cNvSpPr/>
          <p:nvPr/>
        </p:nvSpPr>
        <p:spPr>
          <a:xfrm>
            <a:off x="6409944" y="4558937"/>
            <a:ext cx="411480" cy="109728"/>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5" name="Text 33"/>
          <p:cNvSpPr/>
          <p:nvPr/>
        </p:nvSpPr>
        <p:spPr>
          <a:xfrm>
            <a:off x="6958584" y="4412633"/>
            <a:ext cx="3566160" cy="182880"/>
          </a:xfrm>
          <a:prstGeom prst="rect">
            <a:avLst/>
          </a:prstGeom>
          <a:noFill/>
          <a:ln/>
        </p:spPr>
        <p:txBody>
          <a:bodyPr wrap="square" lIns="0" tIns="0" rIns="0" bIns="0" rtlCol="0" anchor="ctr"/>
          <a:lstStyle/>
          <a:p>
            <a:pPr marL="0" indent="0">
              <a:buNone/>
            </a:pPr>
            <a:r>
              <a:rPr lang="en-US" sz="1200" b="1" dirty="0">
                <a:solidFill>
                  <a:srgbClr val="0B1F33"/>
                </a:solidFill>
              </a:rPr>
              <a:t>Final merge action</a:t>
            </a:r>
            <a:endParaRPr lang="en-US" sz="1200" dirty="0"/>
          </a:p>
        </p:txBody>
      </p:sp>
      <p:sp>
        <p:nvSpPr>
          <p:cNvPr id="36" name="Text 34"/>
          <p:cNvSpPr/>
          <p:nvPr/>
        </p:nvSpPr>
        <p:spPr>
          <a:xfrm>
            <a:off x="6958584" y="4686953"/>
            <a:ext cx="3886200" cy="201168"/>
          </a:xfrm>
          <a:prstGeom prst="rect">
            <a:avLst/>
          </a:prstGeom>
          <a:noFill/>
          <a:ln/>
        </p:spPr>
        <p:txBody>
          <a:bodyPr wrap="square" lIns="0" tIns="0" rIns="0" bIns="0" rtlCol="0" anchor="ctr"/>
          <a:lstStyle/>
          <a:p>
            <a:pPr marL="0" indent="0">
              <a:buNone/>
            </a:pPr>
            <a:r>
              <a:rPr lang="en-US" sz="1200" dirty="0">
                <a:solidFill>
                  <a:srgbClr val="1F2937"/>
                </a:solidFill>
              </a:rPr>
              <a:t>Prevents handled timeout from marking the run failed.</a:t>
            </a:r>
            <a:endParaRPr lang="en-US" sz="1200" dirty="0"/>
          </a:p>
        </p:txBody>
      </p:sp>
      <p:sp>
        <p:nvSpPr>
          <p:cNvPr id="40" name="Text 37"/>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r>
              <a:rPr lang="en-US" sz="3000" b="1" dirty="0">
                <a:solidFill>
                  <a:srgbClr val="0B1F33"/>
                </a:solidFill>
                <a:latin typeface="Aptos Display" pitchFamily="34" charset="0"/>
                <a:ea typeface="Aptos Display" pitchFamily="34" charset="-122"/>
                <a:cs typeface="Aptos Display" pitchFamily="34" charset="-120"/>
              </a:rPr>
              <a:t>Version B : Demo</a:t>
            </a:r>
            <a:endParaRPr lang="en-US" sz="3000" dirty="0"/>
          </a:p>
        </p:txBody>
      </p:sp>
      <p:sp>
        <p:nvSpPr>
          <p:cNvPr id="11" name="Shape 9"/>
          <p:cNvSpPr/>
          <p:nvPr/>
        </p:nvSpPr>
        <p:spPr>
          <a:xfrm>
            <a:off x="4526279" y="1508760"/>
            <a:ext cx="3572691" cy="3520440"/>
          </a:xfrm>
          <a:prstGeom prst="roundRect">
            <a:avLst>
              <a:gd name="adj" fmla="val 3333"/>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12" name="Shape 10"/>
          <p:cNvSpPr/>
          <p:nvPr/>
        </p:nvSpPr>
        <p:spPr>
          <a:xfrm>
            <a:off x="4550228" y="1536192"/>
            <a:ext cx="3548742" cy="512064"/>
          </a:xfrm>
          <a:prstGeom prst="rect">
            <a:avLst/>
          </a:prstGeom>
          <a:solidFill>
            <a:srgbClr val="107C10"/>
          </a:solidFill>
          <a:ln w="12700">
            <a:solidFill>
              <a:srgbClr val="107C10"/>
            </a:solidFill>
            <a:prstDash val="solid"/>
          </a:ln>
        </p:spPr>
      </p:sp>
      <p:sp>
        <p:nvSpPr>
          <p:cNvPr id="13" name="Text 11"/>
          <p:cNvSpPr/>
          <p:nvPr/>
        </p:nvSpPr>
        <p:spPr>
          <a:xfrm>
            <a:off x="4690872" y="1664208"/>
            <a:ext cx="2926080" cy="128016"/>
          </a:xfrm>
          <a:prstGeom prst="rect">
            <a:avLst/>
          </a:prstGeom>
          <a:noFill/>
          <a:ln/>
        </p:spPr>
        <p:txBody>
          <a:bodyPr wrap="square" lIns="0" tIns="0" rIns="0" bIns="0" rtlCol="0" anchor="ctr"/>
          <a:lstStyle/>
          <a:p>
            <a:pPr marL="0" indent="0" algn="ctr">
              <a:buNone/>
            </a:pPr>
            <a:r>
              <a:rPr lang="en-US" sz="1200" b="1" dirty="0">
                <a:solidFill>
                  <a:srgbClr val="FFFFFF"/>
                </a:solidFill>
              </a:rPr>
              <a:t>Logic Apps + Service Bus</a:t>
            </a:r>
            <a:endParaRPr lang="en-US" sz="1200" dirty="0"/>
          </a:p>
        </p:txBody>
      </p:sp>
      <p:sp>
        <p:nvSpPr>
          <p:cNvPr id="14" name="Text 12"/>
          <p:cNvSpPr/>
          <p:nvPr/>
        </p:nvSpPr>
        <p:spPr>
          <a:xfrm>
            <a:off x="4734415" y="2286000"/>
            <a:ext cx="3364556" cy="2011680"/>
          </a:xfrm>
          <a:prstGeom prst="rect">
            <a:avLst/>
          </a:prstGeom>
          <a:noFill/>
          <a:ln/>
        </p:spPr>
        <p:txBody>
          <a:bodyPr wrap="square" lIns="254" tIns="254" rIns="254" bIns="254" rtlCol="0" anchor="ctr">
            <a:noAutofit/>
          </a:bodyPr>
          <a:lstStyle/>
          <a:p>
            <a:pPr marL="0" indent="0">
              <a:buNone/>
            </a:pPr>
            <a:r>
              <a:rPr lang="en-US" dirty="0">
                <a:solidFill>
                  <a:srgbClr val="1F2937"/>
                </a:solidFill>
              </a:rPr>
              <a:t>1. Submit request to queue</a:t>
            </a:r>
            <a:endParaRPr lang="en-US" dirty="0"/>
          </a:p>
          <a:p>
            <a:pPr marL="0" indent="0">
              <a:buNone/>
            </a:pPr>
            <a:r>
              <a:rPr lang="en-US" dirty="0">
                <a:solidFill>
                  <a:srgbClr val="1F2937"/>
                </a:solidFill>
              </a:rPr>
              <a:t>2. Show Logic App run history</a:t>
            </a:r>
            <a:endParaRPr lang="en-US" dirty="0"/>
          </a:p>
          <a:p>
            <a:pPr marL="0" indent="0">
              <a:buNone/>
            </a:pPr>
            <a:r>
              <a:rPr lang="en-US" dirty="0">
                <a:solidFill>
                  <a:srgbClr val="1F2937"/>
                </a:solidFill>
              </a:rPr>
              <a:t>3. Show manager options email</a:t>
            </a:r>
            <a:endParaRPr lang="en-US" dirty="0"/>
          </a:p>
          <a:p>
            <a:pPr marL="0" indent="0">
              <a:buNone/>
            </a:pPr>
            <a:r>
              <a:rPr lang="en-US" dirty="0">
                <a:solidFill>
                  <a:srgbClr val="1F2937"/>
                </a:solidFill>
              </a:rPr>
              <a:t>4. Show topic subscription counts</a:t>
            </a:r>
            <a:endParaRPr lang="en-US" dirty="0"/>
          </a:p>
          <a:p>
            <a:pPr marL="0" indent="0">
              <a:buNone/>
            </a:pPr>
            <a:r>
              <a:rPr lang="en-US" dirty="0">
                <a:solidFill>
                  <a:srgbClr val="1F2937"/>
                </a:solidFill>
              </a:rPr>
              <a:t>5. Show employee email</a:t>
            </a:r>
            <a:endParaRPr lang="en-US" dirty="0"/>
          </a:p>
        </p:txBody>
      </p:sp>
      <p:sp>
        <p:nvSpPr>
          <p:cNvPr id="21" name="Text 18"/>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Comparison summary: six dimensions</a:t>
            </a:r>
            <a:endParaRPr lang="en-US" sz="3000" dirty="0"/>
          </a:p>
        </p:txBody>
      </p:sp>
      <p:sp>
        <p:nvSpPr>
          <p:cNvPr id="7" name="Shape 5"/>
          <p:cNvSpPr/>
          <p:nvPr/>
        </p:nvSpPr>
        <p:spPr>
          <a:xfrm>
            <a:off x="548640" y="1234440"/>
            <a:ext cx="11064240" cy="438912"/>
          </a:xfrm>
          <a:prstGeom prst="rect">
            <a:avLst/>
          </a:prstGeom>
          <a:solidFill>
            <a:srgbClr val="0B1F33"/>
          </a:solidFill>
          <a:ln w="12700">
            <a:solidFill>
              <a:srgbClr val="0B1F33"/>
            </a:solidFill>
            <a:prstDash val="solid"/>
          </a:ln>
        </p:spPr>
      </p:sp>
      <p:sp>
        <p:nvSpPr>
          <p:cNvPr id="8" name="Text 6"/>
          <p:cNvSpPr/>
          <p:nvPr/>
        </p:nvSpPr>
        <p:spPr>
          <a:xfrm>
            <a:off x="685800" y="1389888"/>
            <a:ext cx="2011680" cy="118872"/>
          </a:xfrm>
          <a:prstGeom prst="rect">
            <a:avLst/>
          </a:prstGeom>
          <a:noFill/>
          <a:ln/>
        </p:spPr>
        <p:txBody>
          <a:bodyPr wrap="square" lIns="0" tIns="0" rIns="0" bIns="0" rtlCol="0" anchor="ctr"/>
          <a:lstStyle/>
          <a:p>
            <a:pPr marL="0" indent="0">
              <a:buNone/>
            </a:pPr>
            <a:r>
              <a:rPr lang="en-US" sz="950" b="1" dirty="0">
                <a:solidFill>
                  <a:srgbClr val="FFFFFF"/>
                </a:solidFill>
              </a:rPr>
              <a:t>Dimension</a:t>
            </a:r>
            <a:endParaRPr lang="en-US" sz="950" dirty="0"/>
          </a:p>
        </p:txBody>
      </p:sp>
      <p:sp>
        <p:nvSpPr>
          <p:cNvPr id="9" name="Text 7"/>
          <p:cNvSpPr/>
          <p:nvPr/>
        </p:nvSpPr>
        <p:spPr>
          <a:xfrm>
            <a:off x="2971800" y="1389888"/>
            <a:ext cx="4023360" cy="118872"/>
          </a:xfrm>
          <a:prstGeom prst="rect">
            <a:avLst/>
          </a:prstGeom>
          <a:noFill/>
          <a:ln/>
        </p:spPr>
        <p:txBody>
          <a:bodyPr wrap="square" lIns="0" tIns="0" rIns="0" bIns="0" rtlCol="0" anchor="ctr"/>
          <a:lstStyle/>
          <a:p>
            <a:pPr marL="0" indent="0">
              <a:buNone/>
            </a:pPr>
            <a:r>
              <a:rPr lang="en-US" sz="950" b="1" dirty="0">
                <a:solidFill>
                  <a:srgbClr val="FFFFFF"/>
                </a:solidFill>
              </a:rPr>
              <a:t>Durable Functions</a:t>
            </a:r>
            <a:endParaRPr lang="en-US" sz="950" dirty="0"/>
          </a:p>
        </p:txBody>
      </p:sp>
      <p:sp>
        <p:nvSpPr>
          <p:cNvPr id="10" name="Text 8"/>
          <p:cNvSpPr/>
          <p:nvPr/>
        </p:nvSpPr>
        <p:spPr>
          <a:xfrm>
            <a:off x="7452360" y="1389888"/>
            <a:ext cx="4023360" cy="118872"/>
          </a:xfrm>
          <a:prstGeom prst="rect">
            <a:avLst/>
          </a:prstGeom>
          <a:noFill/>
          <a:ln/>
        </p:spPr>
        <p:txBody>
          <a:bodyPr wrap="square" lIns="0" tIns="0" rIns="0" bIns="0" rtlCol="0" anchor="ctr"/>
          <a:lstStyle/>
          <a:p>
            <a:pPr marL="0" indent="0">
              <a:buNone/>
            </a:pPr>
            <a:r>
              <a:rPr lang="en-US" sz="950" b="1" dirty="0">
                <a:solidFill>
                  <a:srgbClr val="FFFFFF"/>
                </a:solidFill>
              </a:rPr>
              <a:t>Logic Apps + Service Bus</a:t>
            </a:r>
            <a:endParaRPr lang="en-US" sz="950" dirty="0"/>
          </a:p>
        </p:txBody>
      </p:sp>
      <p:sp>
        <p:nvSpPr>
          <p:cNvPr id="11" name="Shape 9"/>
          <p:cNvSpPr/>
          <p:nvPr/>
        </p:nvSpPr>
        <p:spPr>
          <a:xfrm>
            <a:off x="548640" y="1719072"/>
            <a:ext cx="11064240" cy="530352"/>
          </a:xfrm>
          <a:prstGeom prst="rect">
            <a:avLst/>
          </a:prstGeom>
          <a:solidFill>
            <a:srgbClr val="F8FBFF"/>
          </a:solidFill>
          <a:ln w="12700">
            <a:solidFill>
              <a:srgbClr val="EEF3F8"/>
            </a:solidFill>
            <a:prstDash val="solid"/>
          </a:ln>
        </p:spPr>
      </p:sp>
      <p:sp>
        <p:nvSpPr>
          <p:cNvPr id="12" name="Text 10"/>
          <p:cNvSpPr/>
          <p:nvPr/>
        </p:nvSpPr>
        <p:spPr>
          <a:xfrm>
            <a:off x="685800" y="1847088"/>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Development</a:t>
            </a:r>
            <a:endParaRPr lang="en-US" sz="1000" dirty="0"/>
          </a:p>
        </p:txBody>
      </p:sp>
      <p:sp>
        <p:nvSpPr>
          <p:cNvPr id="13" name="Text 11"/>
          <p:cNvSpPr/>
          <p:nvPr/>
        </p:nvSpPr>
        <p:spPr>
          <a:xfrm>
            <a:off x="2971800" y="1801368"/>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More code, clearer control</a:t>
            </a:r>
            <a:endParaRPr lang="en-US" sz="950" dirty="0"/>
          </a:p>
        </p:txBody>
      </p:sp>
      <p:sp>
        <p:nvSpPr>
          <p:cNvPr id="14" name="Text 12"/>
          <p:cNvSpPr/>
          <p:nvPr/>
        </p:nvSpPr>
        <p:spPr>
          <a:xfrm>
            <a:off x="7452360" y="1801368"/>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Faster visual build, more configuration issues</a:t>
            </a:r>
            <a:endParaRPr lang="en-US" sz="950" dirty="0"/>
          </a:p>
        </p:txBody>
      </p:sp>
      <p:sp>
        <p:nvSpPr>
          <p:cNvPr id="15" name="Shape 13"/>
          <p:cNvSpPr/>
          <p:nvPr/>
        </p:nvSpPr>
        <p:spPr>
          <a:xfrm>
            <a:off x="548640" y="2414016"/>
            <a:ext cx="11064240" cy="530352"/>
          </a:xfrm>
          <a:prstGeom prst="rect">
            <a:avLst/>
          </a:prstGeom>
          <a:solidFill>
            <a:srgbClr val="FFFFFF"/>
          </a:solidFill>
          <a:ln w="12700">
            <a:solidFill>
              <a:srgbClr val="EEF3F8"/>
            </a:solidFill>
            <a:prstDash val="solid"/>
          </a:ln>
        </p:spPr>
      </p:sp>
      <p:sp>
        <p:nvSpPr>
          <p:cNvPr id="16" name="Text 14"/>
          <p:cNvSpPr/>
          <p:nvPr/>
        </p:nvSpPr>
        <p:spPr>
          <a:xfrm>
            <a:off x="685800" y="2542032"/>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Testability</a:t>
            </a:r>
            <a:endParaRPr lang="en-US" sz="1000" dirty="0"/>
          </a:p>
        </p:txBody>
      </p:sp>
      <p:sp>
        <p:nvSpPr>
          <p:cNvPr id="17" name="Text 15"/>
          <p:cNvSpPr/>
          <p:nvPr/>
        </p:nvSpPr>
        <p:spPr>
          <a:xfrm>
            <a:off x="2971800" y="2496312"/>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Best for local tests using Azurite and HTTP file</a:t>
            </a:r>
            <a:endParaRPr lang="en-US" sz="950" dirty="0"/>
          </a:p>
        </p:txBody>
      </p:sp>
      <p:sp>
        <p:nvSpPr>
          <p:cNvPr id="18" name="Text 16"/>
          <p:cNvSpPr/>
          <p:nvPr/>
        </p:nvSpPr>
        <p:spPr>
          <a:xfrm>
            <a:off x="7452360" y="2496312"/>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Best tested as deployed integration workflow</a:t>
            </a:r>
            <a:endParaRPr lang="en-US" sz="950" dirty="0"/>
          </a:p>
        </p:txBody>
      </p:sp>
      <p:sp>
        <p:nvSpPr>
          <p:cNvPr id="19" name="Shape 17"/>
          <p:cNvSpPr/>
          <p:nvPr/>
        </p:nvSpPr>
        <p:spPr>
          <a:xfrm>
            <a:off x="548640" y="3108960"/>
            <a:ext cx="11064240" cy="530352"/>
          </a:xfrm>
          <a:prstGeom prst="rect">
            <a:avLst/>
          </a:prstGeom>
          <a:solidFill>
            <a:srgbClr val="F8FBFF"/>
          </a:solidFill>
          <a:ln w="12700">
            <a:solidFill>
              <a:srgbClr val="EEF3F8"/>
            </a:solidFill>
            <a:prstDash val="solid"/>
          </a:ln>
        </p:spPr>
      </p:sp>
      <p:sp>
        <p:nvSpPr>
          <p:cNvPr id="20" name="Text 18"/>
          <p:cNvSpPr/>
          <p:nvPr/>
        </p:nvSpPr>
        <p:spPr>
          <a:xfrm>
            <a:off x="685800" y="3236976"/>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Error handling</a:t>
            </a:r>
            <a:endParaRPr lang="en-US" sz="1000" dirty="0"/>
          </a:p>
        </p:txBody>
      </p:sp>
      <p:sp>
        <p:nvSpPr>
          <p:cNvPr id="21" name="Text 19"/>
          <p:cNvSpPr/>
          <p:nvPr/>
        </p:nvSpPr>
        <p:spPr>
          <a:xfrm>
            <a:off x="2971800" y="3191256"/>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Precise in code; durable timers and events</a:t>
            </a:r>
            <a:endParaRPr lang="en-US" sz="950" dirty="0"/>
          </a:p>
        </p:txBody>
      </p:sp>
      <p:sp>
        <p:nvSpPr>
          <p:cNvPr id="22" name="Text 20"/>
          <p:cNvSpPr/>
          <p:nvPr/>
        </p:nvSpPr>
        <p:spPr>
          <a:xfrm>
            <a:off x="7452360" y="3191256"/>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Powerful run-after rules, but easy to misconfigure</a:t>
            </a:r>
            <a:endParaRPr lang="en-US" sz="950" dirty="0"/>
          </a:p>
        </p:txBody>
      </p:sp>
      <p:sp>
        <p:nvSpPr>
          <p:cNvPr id="23" name="Shape 21"/>
          <p:cNvSpPr/>
          <p:nvPr/>
        </p:nvSpPr>
        <p:spPr>
          <a:xfrm>
            <a:off x="548640" y="3803904"/>
            <a:ext cx="11064240" cy="530352"/>
          </a:xfrm>
          <a:prstGeom prst="rect">
            <a:avLst/>
          </a:prstGeom>
          <a:solidFill>
            <a:srgbClr val="FFFFFF"/>
          </a:solidFill>
          <a:ln w="12700">
            <a:solidFill>
              <a:srgbClr val="EEF3F8"/>
            </a:solidFill>
            <a:prstDash val="solid"/>
          </a:ln>
        </p:spPr>
      </p:sp>
      <p:sp>
        <p:nvSpPr>
          <p:cNvPr id="24" name="Text 22"/>
          <p:cNvSpPr/>
          <p:nvPr/>
        </p:nvSpPr>
        <p:spPr>
          <a:xfrm>
            <a:off x="685800" y="3931920"/>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Human interaction</a:t>
            </a:r>
            <a:endParaRPr lang="en-US" sz="1000" dirty="0"/>
          </a:p>
        </p:txBody>
      </p:sp>
      <p:sp>
        <p:nvSpPr>
          <p:cNvPr id="25" name="Text 23"/>
          <p:cNvSpPr/>
          <p:nvPr/>
        </p:nvSpPr>
        <p:spPr>
          <a:xfrm>
            <a:off x="2971800" y="3886200"/>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Most natural: external event + timer</a:t>
            </a:r>
            <a:endParaRPr lang="en-US" sz="950" dirty="0"/>
          </a:p>
        </p:txBody>
      </p:sp>
      <p:sp>
        <p:nvSpPr>
          <p:cNvPr id="26" name="Text 24"/>
          <p:cNvSpPr/>
          <p:nvPr/>
        </p:nvSpPr>
        <p:spPr>
          <a:xfrm>
            <a:off x="7452360" y="3886200"/>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Workable: Outlook options + timeout branch</a:t>
            </a:r>
            <a:endParaRPr lang="en-US" sz="950" dirty="0"/>
          </a:p>
        </p:txBody>
      </p:sp>
      <p:sp>
        <p:nvSpPr>
          <p:cNvPr id="27" name="Shape 25"/>
          <p:cNvSpPr/>
          <p:nvPr/>
        </p:nvSpPr>
        <p:spPr>
          <a:xfrm>
            <a:off x="548640" y="4498848"/>
            <a:ext cx="11064240" cy="530352"/>
          </a:xfrm>
          <a:prstGeom prst="rect">
            <a:avLst/>
          </a:prstGeom>
          <a:solidFill>
            <a:srgbClr val="F8FBFF"/>
          </a:solidFill>
          <a:ln w="12700">
            <a:solidFill>
              <a:srgbClr val="EEF3F8"/>
            </a:solidFill>
            <a:prstDash val="solid"/>
          </a:ln>
        </p:spPr>
      </p:sp>
      <p:sp>
        <p:nvSpPr>
          <p:cNvPr id="28" name="Text 26"/>
          <p:cNvSpPr/>
          <p:nvPr/>
        </p:nvSpPr>
        <p:spPr>
          <a:xfrm>
            <a:off x="685800" y="4626864"/>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Observability</a:t>
            </a:r>
            <a:endParaRPr lang="en-US" sz="1000" dirty="0"/>
          </a:p>
        </p:txBody>
      </p:sp>
      <p:sp>
        <p:nvSpPr>
          <p:cNvPr id="29" name="Text 27"/>
          <p:cNvSpPr/>
          <p:nvPr/>
        </p:nvSpPr>
        <p:spPr>
          <a:xfrm>
            <a:off x="2971800" y="4581144"/>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Technical status/logs</a:t>
            </a:r>
            <a:endParaRPr lang="en-US" sz="950" dirty="0"/>
          </a:p>
        </p:txBody>
      </p:sp>
      <p:sp>
        <p:nvSpPr>
          <p:cNvPr id="30" name="Text 28"/>
          <p:cNvSpPr/>
          <p:nvPr/>
        </p:nvSpPr>
        <p:spPr>
          <a:xfrm>
            <a:off x="7452360" y="4581144"/>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Strong visual run history</a:t>
            </a:r>
            <a:endParaRPr lang="en-US" sz="950" dirty="0"/>
          </a:p>
        </p:txBody>
      </p:sp>
      <p:sp>
        <p:nvSpPr>
          <p:cNvPr id="31" name="Shape 29"/>
          <p:cNvSpPr/>
          <p:nvPr/>
        </p:nvSpPr>
        <p:spPr>
          <a:xfrm>
            <a:off x="548640" y="5193792"/>
            <a:ext cx="11064240" cy="530352"/>
          </a:xfrm>
          <a:prstGeom prst="rect">
            <a:avLst/>
          </a:prstGeom>
          <a:solidFill>
            <a:srgbClr val="FFFFFF"/>
          </a:solidFill>
          <a:ln w="12700">
            <a:solidFill>
              <a:srgbClr val="EEF3F8"/>
            </a:solidFill>
            <a:prstDash val="solid"/>
          </a:ln>
        </p:spPr>
      </p:sp>
      <p:sp>
        <p:nvSpPr>
          <p:cNvPr id="32" name="Text 30"/>
          <p:cNvSpPr/>
          <p:nvPr/>
        </p:nvSpPr>
        <p:spPr>
          <a:xfrm>
            <a:off x="685800" y="5321808"/>
            <a:ext cx="1920240" cy="128016"/>
          </a:xfrm>
          <a:prstGeom prst="rect">
            <a:avLst/>
          </a:prstGeom>
          <a:noFill/>
          <a:ln/>
        </p:spPr>
        <p:txBody>
          <a:bodyPr wrap="square" lIns="0" tIns="0" rIns="0" bIns="0" rtlCol="0" anchor="ctr"/>
          <a:lstStyle/>
          <a:p>
            <a:pPr marL="0" indent="0">
              <a:buNone/>
            </a:pPr>
            <a:r>
              <a:rPr lang="en-US" sz="1000" b="1" dirty="0">
                <a:solidFill>
                  <a:srgbClr val="0078D4"/>
                </a:solidFill>
              </a:rPr>
              <a:t>Cost</a:t>
            </a:r>
            <a:endParaRPr lang="en-US" sz="1000" dirty="0"/>
          </a:p>
        </p:txBody>
      </p:sp>
      <p:sp>
        <p:nvSpPr>
          <p:cNvPr id="33" name="Text 31"/>
          <p:cNvSpPr/>
          <p:nvPr/>
        </p:nvSpPr>
        <p:spPr>
          <a:xfrm>
            <a:off x="2971800" y="5276088"/>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Lower estimated cost at high volume</a:t>
            </a:r>
            <a:endParaRPr lang="en-US" sz="950" dirty="0"/>
          </a:p>
        </p:txBody>
      </p:sp>
      <p:sp>
        <p:nvSpPr>
          <p:cNvPr id="34" name="Text 32"/>
          <p:cNvSpPr/>
          <p:nvPr/>
        </p:nvSpPr>
        <p:spPr>
          <a:xfrm>
            <a:off x="7452360" y="5276088"/>
            <a:ext cx="3931920" cy="237744"/>
          </a:xfrm>
          <a:prstGeom prst="rect">
            <a:avLst/>
          </a:prstGeom>
          <a:noFill/>
          <a:ln/>
        </p:spPr>
        <p:txBody>
          <a:bodyPr wrap="square" lIns="0" tIns="0" rIns="0" bIns="0" rtlCol="0" anchor="ctr">
            <a:normAutofit/>
          </a:bodyPr>
          <a:lstStyle/>
          <a:p>
            <a:pPr marL="0" indent="0">
              <a:buNone/>
            </a:pPr>
            <a:r>
              <a:rPr lang="en-US" sz="950" dirty="0">
                <a:solidFill>
                  <a:srgbClr val="1F2937"/>
                </a:solidFill>
              </a:rPr>
              <a:t>Higher per-action/connector cost, strong integration value</a:t>
            </a:r>
            <a:endParaRPr lang="en-US" sz="950" dirty="0"/>
          </a:p>
        </p:txBody>
      </p:sp>
      <p:sp>
        <p:nvSpPr>
          <p:cNvPr id="36" name="Text 33"/>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Cost estimate</a:t>
            </a:r>
            <a:endParaRPr lang="en-US" sz="3000" dirty="0"/>
          </a:p>
        </p:txBody>
      </p:sp>
      <p:sp>
        <p:nvSpPr>
          <p:cNvPr id="6" name="Text 4"/>
          <p:cNvSpPr/>
          <p:nvPr/>
        </p:nvSpPr>
        <p:spPr>
          <a:xfrm>
            <a:off x="530352" y="822960"/>
            <a:ext cx="9144000" cy="274320"/>
          </a:xfrm>
          <a:prstGeom prst="rect">
            <a:avLst/>
          </a:prstGeom>
          <a:noFill/>
          <a:ln/>
        </p:spPr>
        <p:txBody>
          <a:bodyPr wrap="square" lIns="0" tIns="0" rIns="0" bIns="0" rtlCol="0" anchor="ctr"/>
          <a:lstStyle/>
          <a:p>
            <a:pPr marL="0" indent="0">
              <a:buNone/>
            </a:pPr>
            <a:r>
              <a:rPr lang="en-US" sz="1250" dirty="0">
                <a:solidFill>
                  <a:srgbClr val="64748B"/>
                </a:solidFill>
              </a:rPr>
              <a:t>Planning estimate using stated assumptions</a:t>
            </a:r>
            <a:endParaRPr lang="en-US" sz="1250" dirty="0"/>
          </a:p>
        </p:txBody>
      </p:sp>
      <p:sp>
        <p:nvSpPr>
          <p:cNvPr id="7" name="Shape 5"/>
          <p:cNvSpPr/>
          <p:nvPr/>
        </p:nvSpPr>
        <p:spPr>
          <a:xfrm>
            <a:off x="777240" y="1234440"/>
            <a:ext cx="5212080" cy="4480560"/>
          </a:xfrm>
          <a:prstGeom prst="roundRect">
            <a:avLst>
              <a:gd name="adj" fmla="val 2449"/>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8" name="Text 6"/>
          <p:cNvSpPr/>
          <p:nvPr/>
        </p:nvSpPr>
        <p:spPr>
          <a:xfrm>
            <a:off x="1005840" y="1508760"/>
            <a:ext cx="2560320" cy="219456"/>
          </a:xfrm>
          <a:prstGeom prst="rect">
            <a:avLst/>
          </a:prstGeom>
          <a:noFill/>
          <a:ln/>
        </p:spPr>
        <p:txBody>
          <a:bodyPr wrap="square" lIns="0" tIns="0" rIns="0" bIns="0" rtlCol="0" anchor="ctr"/>
          <a:lstStyle/>
          <a:p>
            <a:pPr marL="0" indent="0">
              <a:buNone/>
            </a:pPr>
            <a:r>
              <a:rPr lang="en-US" sz="1600" b="1" dirty="0">
                <a:solidFill>
                  <a:srgbClr val="0B1F33"/>
                </a:solidFill>
              </a:rPr>
              <a:t>Assumptions</a:t>
            </a:r>
            <a:endParaRPr lang="en-US" sz="1600" dirty="0"/>
          </a:p>
        </p:txBody>
      </p:sp>
      <p:sp>
        <p:nvSpPr>
          <p:cNvPr id="9" name="Text 7"/>
          <p:cNvSpPr/>
          <p:nvPr/>
        </p:nvSpPr>
        <p:spPr>
          <a:xfrm>
            <a:off x="1005840" y="1965960"/>
            <a:ext cx="4480560" cy="1554480"/>
          </a:xfrm>
          <a:prstGeom prst="rect">
            <a:avLst/>
          </a:prstGeom>
          <a:noFill/>
          <a:ln/>
        </p:spPr>
        <p:txBody>
          <a:bodyPr wrap="square" lIns="254" tIns="254" rIns="254" bIns="254" rtlCol="0" anchor="ctr"/>
          <a:lstStyle/>
          <a:p>
            <a:pPr marL="0" indent="0">
              <a:buNone/>
            </a:pPr>
            <a:r>
              <a:rPr lang="en-US" sz="1600" dirty="0">
                <a:solidFill>
                  <a:srgbClr val="1F2937"/>
                </a:solidFill>
              </a:rPr>
              <a:t>• 100 expenses/day = 3,000/month</a:t>
            </a:r>
            <a:endParaRPr lang="en-US" sz="1600" dirty="0"/>
          </a:p>
          <a:p>
            <a:pPr marL="0" indent="0">
              <a:buNone/>
            </a:pPr>
            <a:r>
              <a:rPr lang="en-US" sz="1600" dirty="0">
                <a:solidFill>
                  <a:srgbClr val="1F2937"/>
                </a:solidFill>
              </a:rPr>
              <a:t>• 10,000 expenses/day = 300,000/month</a:t>
            </a:r>
            <a:endParaRPr lang="en-US" sz="1600" dirty="0"/>
          </a:p>
          <a:p>
            <a:pPr marL="0" indent="0">
              <a:buNone/>
            </a:pPr>
            <a:r>
              <a:rPr lang="en-US" sz="1600" dirty="0">
                <a:solidFill>
                  <a:srgbClr val="1F2937"/>
                </a:solidFill>
              </a:rPr>
              <a:t>• Durable waiting is not continuous compute</a:t>
            </a:r>
            <a:endParaRPr lang="en-US" sz="1600" dirty="0"/>
          </a:p>
          <a:p>
            <a:pPr marL="0" indent="0">
              <a:buNone/>
            </a:pPr>
            <a:r>
              <a:rPr lang="en-US" sz="1600" dirty="0">
                <a:solidFill>
                  <a:srgbClr val="1F2937"/>
                </a:solidFill>
              </a:rPr>
              <a:t>• Logic Apps uses multiple connector/action calls</a:t>
            </a:r>
            <a:endParaRPr lang="en-US" sz="1600" dirty="0"/>
          </a:p>
          <a:p>
            <a:pPr marL="0" indent="0">
              <a:buNone/>
            </a:pPr>
            <a:r>
              <a:rPr lang="en-US" sz="1600" dirty="0">
                <a:solidFill>
                  <a:srgbClr val="1F2937"/>
                </a:solidFill>
              </a:rPr>
              <a:t>• Service Bus Standard required for topics</a:t>
            </a:r>
            <a:endParaRPr lang="en-US" sz="1600" dirty="0"/>
          </a:p>
        </p:txBody>
      </p:sp>
      <p:sp>
        <p:nvSpPr>
          <p:cNvPr id="10" name="Text 8"/>
          <p:cNvSpPr/>
          <p:nvPr/>
        </p:nvSpPr>
        <p:spPr>
          <a:xfrm>
            <a:off x="6492240" y="1508760"/>
            <a:ext cx="4114800" cy="219456"/>
          </a:xfrm>
          <a:prstGeom prst="rect">
            <a:avLst/>
          </a:prstGeom>
          <a:noFill/>
          <a:ln/>
        </p:spPr>
        <p:txBody>
          <a:bodyPr wrap="square" lIns="0" tIns="0" rIns="0" bIns="0" rtlCol="0" anchor="ctr"/>
          <a:lstStyle/>
          <a:p>
            <a:pPr marL="0" indent="0">
              <a:buNone/>
            </a:pPr>
            <a:r>
              <a:rPr lang="en-US" sz="1600" b="1" dirty="0">
                <a:solidFill>
                  <a:srgbClr val="0B1F33"/>
                </a:solidFill>
              </a:rPr>
              <a:t>Estimated monthly cost</a:t>
            </a:r>
            <a:endParaRPr lang="en-US" sz="1600" dirty="0"/>
          </a:p>
        </p:txBody>
      </p:sp>
      <p:sp>
        <p:nvSpPr>
          <p:cNvPr id="11" name="Text 9"/>
          <p:cNvSpPr/>
          <p:nvPr/>
        </p:nvSpPr>
        <p:spPr>
          <a:xfrm>
            <a:off x="6400800" y="2057400"/>
            <a:ext cx="1874520" cy="210312"/>
          </a:xfrm>
          <a:prstGeom prst="rect">
            <a:avLst/>
          </a:prstGeom>
          <a:noFill/>
          <a:ln/>
        </p:spPr>
        <p:txBody>
          <a:bodyPr wrap="square" lIns="0" tIns="0" rIns="0" bIns="0" rtlCol="0" anchor="ctr"/>
          <a:lstStyle/>
          <a:p>
            <a:pPr marL="0" indent="0">
              <a:buNone/>
            </a:pPr>
            <a:r>
              <a:rPr lang="en-US" sz="1000" dirty="0">
                <a:solidFill>
                  <a:srgbClr val="1F2937"/>
                </a:solidFill>
              </a:rPr>
              <a:t>Durable — 100/day</a:t>
            </a:r>
            <a:endParaRPr lang="en-US" sz="1000" dirty="0"/>
          </a:p>
        </p:txBody>
      </p:sp>
      <p:sp>
        <p:nvSpPr>
          <p:cNvPr id="12" name="Shape 10"/>
          <p:cNvSpPr/>
          <p:nvPr/>
        </p:nvSpPr>
        <p:spPr>
          <a:xfrm>
            <a:off x="8412480" y="2084832"/>
            <a:ext cx="2743200" cy="164592"/>
          </a:xfrm>
          <a:prstGeom prst="rect">
            <a:avLst/>
          </a:prstGeom>
          <a:solidFill>
            <a:srgbClr val="E6EEF7"/>
          </a:solidFill>
          <a:ln w="12700">
            <a:solidFill>
              <a:srgbClr val="E6EEF7"/>
            </a:solidFill>
            <a:prstDash val="solid"/>
          </a:ln>
        </p:spPr>
      </p:sp>
      <p:sp>
        <p:nvSpPr>
          <p:cNvPr id="13" name="Text 11"/>
          <p:cNvSpPr/>
          <p:nvPr/>
        </p:nvSpPr>
        <p:spPr>
          <a:xfrm>
            <a:off x="11292840" y="2048256"/>
            <a:ext cx="640080" cy="201168"/>
          </a:xfrm>
          <a:prstGeom prst="rect">
            <a:avLst/>
          </a:prstGeom>
          <a:noFill/>
          <a:ln/>
        </p:spPr>
        <p:txBody>
          <a:bodyPr wrap="square" lIns="0" tIns="0" rIns="0" bIns="0" rtlCol="0" anchor="ctr"/>
          <a:lstStyle/>
          <a:p>
            <a:pPr marL="0" indent="0">
              <a:buNone/>
            </a:pPr>
            <a:r>
              <a:rPr lang="en-US" sz="950" b="1" dirty="0">
                <a:solidFill>
                  <a:srgbClr val="1F2937"/>
                </a:solidFill>
              </a:rPr>
              <a:t>$0</a:t>
            </a:r>
            <a:endParaRPr lang="en-US" sz="950" dirty="0"/>
          </a:p>
        </p:txBody>
      </p:sp>
      <p:sp>
        <p:nvSpPr>
          <p:cNvPr id="14" name="Text 12"/>
          <p:cNvSpPr/>
          <p:nvPr/>
        </p:nvSpPr>
        <p:spPr>
          <a:xfrm>
            <a:off x="6400800" y="2606040"/>
            <a:ext cx="1874520" cy="210312"/>
          </a:xfrm>
          <a:prstGeom prst="rect">
            <a:avLst/>
          </a:prstGeom>
          <a:noFill/>
          <a:ln/>
        </p:spPr>
        <p:txBody>
          <a:bodyPr wrap="square" lIns="0" tIns="0" rIns="0" bIns="0" rtlCol="0" anchor="ctr"/>
          <a:lstStyle/>
          <a:p>
            <a:pPr marL="0" indent="0">
              <a:buNone/>
            </a:pPr>
            <a:r>
              <a:rPr lang="en-US" sz="1000" dirty="0">
                <a:solidFill>
                  <a:srgbClr val="1F2937"/>
                </a:solidFill>
              </a:rPr>
              <a:t>Logic Apps — 100/day</a:t>
            </a:r>
            <a:endParaRPr lang="en-US" sz="1000" dirty="0"/>
          </a:p>
        </p:txBody>
      </p:sp>
      <p:sp>
        <p:nvSpPr>
          <p:cNvPr id="15" name="Shape 13"/>
          <p:cNvSpPr/>
          <p:nvPr/>
        </p:nvSpPr>
        <p:spPr>
          <a:xfrm>
            <a:off x="8412480" y="2633472"/>
            <a:ext cx="2743200" cy="164592"/>
          </a:xfrm>
          <a:prstGeom prst="rect">
            <a:avLst/>
          </a:prstGeom>
          <a:solidFill>
            <a:srgbClr val="E6EEF7"/>
          </a:solidFill>
          <a:ln w="12700">
            <a:solidFill>
              <a:srgbClr val="E6EEF7"/>
            </a:solidFill>
            <a:prstDash val="solid"/>
          </a:ln>
        </p:spPr>
      </p:sp>
      <p:sp>
        <p:nvSpPr>
          <p:cNvPr id="16" name="Shape 14"/>
          <p:cNvSpPr/>
          <p:nvPr/>
        </p:nvSpPr>
        <p:spPr>
          <a:xfrm>
            <a:off x="8412480" y="2660904"/>
            <a:ext cx="177937" cy="109728"/>
          </a:xfrm>
          <a:prstGeom prst="rect">
            <a:avLst/>
          </a:prstGeom>
          <a:solidFill>
            <a:srgbClr val="107C10"/>
          </a:solidFill>
          <a:ln w="12700">
            <a:solidFill>
              <a:srgbClr val="107C10"/>
            </a:solidFill>
            <a:prstDash val="solid"/>
          </a:ln>
        </p:spPr>
      </p:sp>
      <p:sp>
        <p:nvSpPr>
          <p:cNvPr id="17" name="Text 15"/>
          <p:cNvSpPr/>
          <p:nvPr/>
        </p:nvSpPr>
        <p:spPr>
          <a:xfrm>
            <a:off x="11292840" y="2596896"/>
            <a:ext cx="640080" cy="201168"/>
          </a:xfrm>
          <a:prstGeom prst="rect">
            <a:avLst/>
          </a:prstGeom>
          <a:noFill/>
          <a:ln/>
        </p:spPr>
        <p:txBody>
          <a:bodyPr wrap="square" lIns="0" tIns="0" rIns="0" bIns="0" rtlCol="0" anchor="ctr"/>
          <a:lstStyle/>
          <a:p>
            <a:pPr marL="0" indent="0">
              <a:buNone/>
            </a:pPr>
            <a:r>
              <a:rPr lang="en-US" sz="950" b="1" dirty="0">
                <a:solidFill>
                  <a:srgbClr val="1F2937"/>
                </a:solidFill>
              </a:rPr>
              <a:t>$12</a:t>
            </a:r>
            <a:endParaRPr lang="en-US" sz="950" dirty="0"/>
          </a:p>
        </p:txBody>
      </p:sp>
      <p:sp>
        <p:nvSpPr>
          <p:cNvPr id="18" name="Text 16"/>
          <p:cNvSpPr/>
          <p:nvPr/>
        </p:nvSpPr>
        <p:spPr>
          <a:xfrm>
            <a:off x="6400800" y="3154680"/>
            <a:ext cx="1874520" cy="210312"/>
          </a:xfrm>
          <a:prstGeom prst="rect">
            <a:avLst/>
          </a:prstGeom>
          <a:noFill/>
          <a:ln/>
        </p:spPr>
        <p:txBody>
          <a:bodyPr wrap="square" lIns="0" tIns="0" rIns="0" bIns="0" rtlCol="0" anchor="ctr"/>
          <a:lstStyle/>
          <a:p>
            <a:pPr marL="0" indent="0">
              <a:buNone/>
            </a:pPr>
            <a:r>
              <a:rPr lang="en-US" sz="1000" dirty="0">
                <a:solidFill>
                  <a:srgbClr val="1F2937"/>
                </a:solidFill>
              </a:rPr>
              <a:t>Durable — 10k/day</a:t>
            </a:r>
            <a:endParaRPr lang="en-US" sz="1000" dirty="0"/>
          </a:p>
        </p:txBody>
      </p:sp>
      <p:sp>
        <p:nvSpPr>
          <p:cNvPr id="19" name="Shape 17"/>
          <p:cNvSpPr/>
          <p:nvPr/>
        </p:nvSpPr>
        <p:spPr>
          <a:xfrm>
            <a:off x="8412480" y="3182112"/>
            <a:ext cx="2743200" cy="164592"/>
          </a:xfrm>
          <a:prstGeom prst="rect">
            <a:avLst/>
          </a:prstGeom>
          <a:solidFill>
            <a:srgbClr val="E6EEF7"/>
          </a:solidFill>
          <a:ln w="12700">
            <a:solidFill>
              <a:srgbClr val="E6EEF7"/>
            </a:solidFill>
            <a:prstDash val="solid"/>
          </a:ln>
        </p:spPr>
      </p:sp>
      <p:sp>
        <p:nvSpPr>
          <p:cNvPr id="20" name="Shape 18"/>
          <p:cNvSpPr/>
          <p:nvPr/>
        </p:nvSpPr>
        <p:spPr>
          <a:xfrm>
            <a:off x="8412480" y="3209544"/>
            <a:ext cx="222422" cy="109728"/>
          </a:xfrm>
          <a:prstGeom prst="rect">
            <a:avLst/>
          </a:prstGeom>
          <a:solidFill>
            <a:srgbClr val="0078D4"/>
          </a:solidFill>
          <a:ln w="12700">
            <a:solidFill>
              <a:srgbClr val="0078D4"/>
            </a:solidFill>
            <a:prstDash val="solid"/>
          </a:ln>
        </p:spPr>
      </p:sp>
      <p:sp>
        <p:nvSpPr>
          <p:cNvPr id="21" name="Text 19"/>
          <p:cNvSpPr/>
          <p:nvPr/>
        </p:nvSpPr>
        <p:spPr>
          <a:xfrm>
            <a:off x="11292840" y="3145536"/>
            <a:ext cx="640080" cy="201168"/>
          </a:xfrm>
          <a:prstGeom prst="rect">
            <a:avLst/>
          </a:prstGeom>
          <a:noFill/>
          <a:ln/>
        </p:spPr>
        <p:txBody>
          <a:bodyPr wrap="square" lIns="0" tIns="0" rIns="0" bIns="0" rtlCol="0" anchor="ctr"/>
          <a:lstStyle/>
          <a:p>
            <a:pPr marL="0" indent="0">
              <a:buNone/>
            </a:pPr>
            <a:r>
              <a:rPr lang="en-US" sz="950" b="1" dirty="0">
                <a:solidFill>
                  <a:srgbClr val="1F2937"/>
                </a:solidFill>
              </a:rPr>
              <a:t>$15</a:t>
            </a:r>
            <a:endParaRPr lang="en-US" sz="950" dirty="0"/>
          </a:p>
        </p:txBody>
      </p:sp>
      <p:sp>
        <p:nvSpPr>
          <p:cNvPr id="22" name="Text 20"/>
          <p:cNvSpPr/>
          <p:nvPr/>
        </p:nvSpPr>
        <p:spPr>
          <a:xfrm>
            <a:off x="6400800" y="3703320"/>
            <a:ext cx="1874520" cy="210312"/>
          </a:xfrm>
          <a:prstGeom prst="rect">
            <a:avLst/>
          </a:prstGeom>
          <a:noFill/>
          <a:ln/>
        </p:spPr>
        <p:txBody>
          <a:bodyPr wrap="square" lIns="0" tIns="0" rIns="0" bIns="0" rtlCol="0" anchor="ctr"/>
          <a:lstStyle/>
          <a:p>
            <a:pPr marL="0" indent="0">
              <a:buNone/>
            </a:pPr>
            <a:r>
              <a:rPr lang="en-US" sz="1000" dirty="0">
                <a:solidFill>
                  <a:srgbClr val="1F2937"/>
                </a:solidFill>
              </a:rPr>
              <a:t>Logic Apps — 10k/day</a:t>
            </a:r>
            <a:endParaRPr lang="en-US" sz="1000" dirty="0"/>
          </a:p>
        </p:txBody>
      </p:sp>
      <p:sp>
        <p:nvSpPr>
          <p:cNvPr id="23" name="Shape 21"/>
          <p:cNvSpPr/>
          <p:nvPr/>
        </p:nvSpPr>
        <p:spPr>
          <a:xfrm>
            <a:off x="8412480" y="3730752"/>
            <a:ext cx="2743200" cy="164592"/>
          </a:xfrm>
          <a:prstGeom prst="rect">
            <a:avLst/>
          </a:prstGeom>
          <a:solidFill>
            <a:srgbClr val="E6EEF7"/>
          </a:solidFill>
          <a:ln w="12700">
            <a:solidFill>
              <a:srgbClr val="E6EEF7"/>
            </a:solidFill>
            <a:prstDash val="solid"/>
          </a:ln>
        </p:spPr>
      </p:sp>
      <p:sp>
        <p:nvSpPr>
          <p:cNvPr id="24" name="Shape 22"/>
          <p:cNvSpPr/>
          <p:nvPr/>
        </p:nvSpPr>
        <p:spPr>
          <a:xfrm>
            <a:off x="8412480" y="3758184"/>
            <a:ext cx="2743200" cy="109728"/>
          </a:xfrm>
          <a:prstGeom prst="rect">
            <a:avLst/>
          </a:prstGeom>
          <a:solidFill>
            <a:srgbClr val="107C10"/>
          </a:solidFill>
          <a:ln w="12700">
            <a:solidFill>
              <a:srgbClr val="107C10"/>
            </a:solidFill>
            <a:prstDash val="solid"/>
          </a:ln>
        </p:spPr>
      </p:sp>
      <p:sp>
        <p:nvSpPr>
          <p:cNvPr id="25" name="Text 23"/>
          <p:cNvSpPr/>
          <p:nvPr/>
        </p:nvSpPr>
        <p:spPr>
          <a:xfrm>
            <a:off x="11292840" y="3694176"/>
            <a:ext cx="640080" cy="201168"/>
          </a:xfrm>
          <a:prstGeom prst="rect">
            <a:avLst/>
          </a:prstGeom>
          <a:noFill/>
          <a:ln/>
        </p:spPr>
        <p:txBody>
          <a:bodyPr wrap="square" lIns="0" tIns="0" rIns="0" bIns="0" rtlCol="0" anchor="ctr"/>
          <a:lstStyle/>
          <a:p>
            <a:pPr marL="0" indent="0">
              <a:buNone/>
            </a:pPr>
            <a:r>
              <a:rPr lang="en-US" sz="950" b="1" dirty="0">
                <a:solidFill>
                  <a:srgbClr val="1F2937"/>
                </a:solidFill>
              </a:rPr>
              <a:t>$185</a:t>
            </a:r>
            <a:endParaRPr lang="en-US" sz="950" dirty="0"/>
          </a:p>
        </p:txBody>
      </p:sp>
      <p:sp>
        <p:nvSpPr>
          <p:cNvPr id="26" name="Shape 24"/>
          <p:cNvSpPr/>
          <p:nvPr/>
        </p:nvSpPr>
        <p:spPr>
          <a:xfrm>
            <a:off x="6400800" y="4709160"/>
            <a:ext cx="4846320" cy="777240"/>
          </a:xfrm>
          <a:prstGeom prst="roundRect">
            <a:avLst>
              <a:gd name="adj" fmla="val 14118"/>
            </a:avLst>
          </a:prstGeom>
          <a:solidFill>
            <a:srgbClr val="EAF4FF"/>
          </a:solidFill>
          <a:ln w="12700">
            <a:solidFill>
              <a:srgbClr val="0078D4"/>
            </a:solidFill>
            <a:prstDash val="solid"/>
          </a:ln>
        </p:spPr>
      </p:sp>
      <p:sp>
        <p:nvSpPr>
          <p:cNvPr id="27" name="Text 25"/>
          <p:cNvSpPr/>
          <p:nvPr/>
        </p:nvSpPr>
        <p:spPr>
          <a:xfrm>
            <a:off x="6629400" y="4937760"/>
            <a:ext cx="4389120" cy="201168"/>
          </a:xfrm>
          <a:prstGeom prst="rect">
            <a:avLst/>
          </a:prstGeom>
          <a:noFill/>
          <a:ln/>
        </p:spPr>
        <p:txBody>
          <a:bodyPr wrap="square" lIns="0" tIns="0" rIns="0" bIns="0" rtlCol="0" anchor="ctr"/>
          <a:lstStyle/>
          <a:p>
            <a:pPr marL="0" indent="0" algn="ctr">
              <a:buNone/>
            </a:pPr>
            <a:r>
              <a:rPr lang="en-US" sz="1050" b="1" dirty="0">
                <a:solidFill>
                  <a:srgbClr val="0B1F33"/>
                </a:solidFill>
              </a:rPr>
              <a:t>Takeaway: Durable Functions is usually more cost-efficient at scale; Logic Apps cost is justified when visual operations and managed connectors are the priority.</a:t>
            </a:r>
            <a:endParaRPr lang="en-US" sz="1050" dirty="0"/>
          </a:p>
        </p:txBody>
      </p:sp>
      <p:sp>
        <p:nvSpPr>
          <p:cNvPr id="29" name="Text 26"/>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Recommendation</a:t>
            </a:r>
            <a:endParaRPr lang="en-US" sz="3000" dirty="0"/>
          </a:p>
        </p:txBody>
      </p:sp>
      <p:sp>
        <p:nvSpPr>
          <p:cNvPr id="7" name="Shape 5"/>
          <p:cNvSpPr/>
          <p:nvPr/>
        </p:nvSpPr>
        <p:spPr>
          <a:xfrm>
            <a:off x="731520" y="1325880"/>
            <a:ext cx="5074920" cy="4343400"/>
          </a:xfrm>
          <a:prstGeom prst="roundRect">
            <a:avLst>
              <a:gd name="adj" fmla="val 2526"/>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8" name="Shape 6"/>
          <p:cNvSpPr/>
          <p:nvPr/>
        </p:nvSpPr>
        <p:spPr>
          <a:xfrm>
            <a:off x="731520" y="1325880"/>
            <a:ext cx="5074920" cy="621792"/>
          </a:xfrm>
          <a:prstGeom prst="rect">
            <a:avLst/>
          </a:prstGeom>
          <a:solidFill>
            <a:srgbClr val="0078D4"/>
          </a:solidFill>
          <a:ln w="12700">
            <a:solidFill>
              <a:srgbClr val="0078D4"/>
            </a:solidFill>
            <a:prstDash val="solid"/>
          </a:ln>
        </p:spPr>
      </p:sp>
      <p:sp>
        <p:nvSpPr>
          <p:cNvPr id="9" name="Text 7"/>
          <p:cNvSpPr/>
          <p:nvPr/>
        </p:nvSpPr>
        <p:spPr>
          <a:xfrm>
            <a:off x="1005840" y="1536192"/>
            <a:ext cx="4572000" cy="164592"/>
          </a:xfrm>
          <a:prstGeom prst="rect">
            <a:avLst/>
          </a:prstGeom>
          <a:noFill/>
          <a:ln/>
        </p:spPr>
        <p:txBody>
          <a:bodyPr wrap="square" lIns="0" tIns="0" rIns="0" bIns="0" rtlCol="0" anchor="ctr"/>
          <a:lstStyle/>
          <a:p>
            <a:pPr marL="0" indent="0" algn="ctr">
              <a:buNone/>
            </a:pPr>
            <a:r>
              <a:rPr lang="en-US" sz="1500" b="1" dirty="0">
                <a:solidFill>
                  <a:srgbClr val="FFFFFF"/>
                </a:solidFill>
              </a:rPr>
              <a:t>Choose Durable Functions when…</a:t>
            </a:r>
            <a:endParaRPr lang="en-US" sz="1500" dirty="0"/>
          </a:p>
        </p:txBody>
      </p:sp>
      <p:sp>
        <p:nvSpPr>
          <p:cNvPr id="10" name="Text 8"/>
          <p:cNvSpPr/>
          <p:nvPr/>
        </p:nvSpPr>
        <p:spPr>
          <a:xfrm>
            <a:off x="1005840" y="2240280"/>
            <a:ext cx="4343400" cy="1508760"/>
          </a:xfrm>
          <a:prstGeom prst="rect">
            <a:avLst/>
          </a:prstGeom>
          <a:noFill/>
          <a:ln/>
        </p:spPr>
        <p:txBody>
          <a:bodyPr wrap="square" lIns="254" tIns="254" rIns="254" bIns="254" rtlCol="0" anchor="ctr"/>
          <a:lstStyle/>
          <a:p>
            <a:pPr marL="0" indent="0">
              <a:buNone/>
            </a:pPr>
            <a:r>
              <a:rPr lang="en-US" sz="1600" dirty="0">
                <a:solidFill>
                  <a:srgbClr val="1F2937"/>
                </a:solidFill>
              </a:rPr>
              <a:t>• Team is comfortable with Python</a:t>
            </a:r>
            <a:endParaRPr lang="en-US" sz="1600" dirty="0"/>
          </a:p>
          <a:p>
            <a:pPr marL="0" indent="0">
              <a:buNone/>
            </a:pPr>
            <a:r>
              <a:rPr lang="en-US" sz="1600" dirty="0">
                <a:solidFill>
                  <a:srgbClr val="1F2937"/>
                </a:solidFill>
              </a:rPr>
              <a:t>• Approval logic may become complex</a:t>
            </a:r>
            <a:endParaRPr lang="en-US" sz="1600" dirty="0"/>
          </a:p>
          <a:p>
            <a:pPr marL="0" indent="0">
              <a:buNone/>
            </a:pPr>
            <a:r>
              <a:rPr lang="en-US" sz="1600" dirty="0">
                <a:solidFill>
                  <a:srgbClr val="1F2937"/>
                </a:solidFill>
              </a:rPr>
              <a:t>• You need precise retries and recovery</a:t>
            </a:r>
            <a:endParaRPr lang="en-US" sz="1600" dirty="0"/>
          </a:p>
          <a:p>
            <a:pPr marL="0" indent="0">
              <a:buNone/>
            </a:pPr>
            <a:r>
              <a:rPr lang="en-US" sz="1600" dirty="0">
                <a:solidFill>
                  <a:srgbClr val="1F2937"/>
                </a:solidFill>
              </a:rPr>
              <a:t>• Local testability matters</a:t>
            </a:r>
            <a:endParaRPr lang="en-US" sz="1600" dirty="0"/>
          </a:p>
          <a:p>
            <a:pPr marL="0" indent="0">
              <a:buNone/>
            </a:pPr>
            <a:r>
              <a:rPr lang="en-US" sz="1600" dirty="0">
                <a:solidFill>
                  <a:srgbClr val="1F2937"/>
                </a:solidFill>
              </a:rPr>
              <a:t>• Cost at high volume matters</a:t>
            </a:r>
            <a:endParaRPr lang="en-US" sz="1600" dirty="0"/>
          </a:p>
        </p:txBody>
      </p:sp>
      <p:sp>
        <p:nvSpPr>
          <p:cNvPr id="11" name="Shape 9"/>
          <p:cNvSpPr/>
          <p:nvPr/>
        </p:nvSpPr>
        <p:spPr>
          <a:xfrm>
            <a:off x="1371600" y="4892040"/>
            <a:ext cx="3749040" cy="310896"/>
          </a:xfrm>
          <a:prstGeom prst="roundRect">
            <a:avLst>
              <a:gd name="adj" fmla="val 23529"/>
            </a:avLst>
          </a:prstGeom>
          <a:solidFill>
            <a:srgbClr val="EAF4FF"/>
          </a:solidFill>
          <a:ln w="12700">
            <a:solidFill>
              <a:srgbClr val="0078D4"/>
            </a:solidFill>
            <a:prstDash val="solid"/>
          </a:ln>
        </p:spPr>
      </p:sp>
      <p:sp>
        <p:nvSpPr>
          <p:cNvPr id="12" name="Text 10"/>
          <p:cNvSpPr/>
          <p:nvPr/>
        </p:nvSpPr>
        <p:spPr>
          <a:xfrm>
            <a:off x="1463040" y="4960620"/>
            <a:ext cx="3566160" cy="146304"/>
          </a:xfrm>
          <a:prstGeom prst="rect">
            <a:avLst/>
          </a:prstGeom>
          <a:noFill/>
          <a:ln/>
        </p:spPr>
        <p:txBody>
          <a:bodyPr wrap="square" lIns="0" tIns="0" rIns="0" bIns="0" rtlCol="0" anchor="ctr"/>
          <a:lstStyle/>
          <a:p>
            <a:pPr marL="0" indent="0" algn="ctr">
              <a:buNone/>
            </a:pPr>
            <a:r>
              <a:rPr lang="en-US" sz="1600" b="1" dirty="0">
                <a:solidFill>
                  <a:srgbClr val="0078D4"/>
                </a:solidFill>
              </a:rPr>
              <a:t>My production choice for this workflow</a:t>
            </a:r>
            <a:endParaRPr lang="en-US" sz="1600" dirty="0"/>
          </a:p>
        </p:txBody>
      </p:sp>
      <p:sp>
        <p:nvSpPr>
          <p:cNvPr id="13" name="Shape 11"/>
          <p:cNvSpPr/>
          <p:nvPr/>
        </p:nvSpPr>
        <p:spPr>
          <a:xfrm>
            <a:off x="6400800" y="1412966"/>
            <a:ext cx="5074920" cy="4343400"/>
          </a:xfrm>
          <a:prstGeom prst="roundRect">
            <a:avLst>
              <a:gd name="adj" fmla="val 2526"/>
            </a:avLst>
          </a:prstGeom>
          <a:solidFill>
            <a:srgbClr val="FFFFFF"/>
          </a:solidFill>
          <a:ln w="12700">
            <a:solidFill>
              <a:srgbClr val="D8E3EE"/>
            </a:solidFill>
            <a:prstDash val="solid"/>
          </a:ln>
          <a:effectLst>
            <a:outerShdw blurRad="12700" dist="50800" dir="2700000" algn="bl" rotWithShape="0">
              <a:srgbClr val="DCE7F2">
                <a:alpha val="25000"/>
              </a:srgbClr>
            </a:outerShdw>
          </a:effectLst>
        </p:spPr>
      </p:sp>
      <p:sp>
        <p:nvSpPr>
          <p:cNvPr id="14" name="Shape 12"/>
          <p:cNvSpPr/>
          <p:nvPr/>
        </p:nvSpPr>
        <p:spPr>
          <a:xfrm>
            <a:off x="6400800" y="1325880"/>
            <a:ext cx="5074920" cy="621792"/>
          </a:xfrm>
          <a:prstGeom prst="rect">
            <a:avLst/>
          </a:prstGeom>
          <a:solidFill>
            <a:srgbClr val="107C10"/>
          </a:solidFill>
          <a:ln w="12700">
            <a:solidFill>
              <a:srgbClr val="107C10"/>
            </a:solidFill>
            <a:prstDash val="solid"/>
          </a:ln>
        </p:spPr>
      </p:sp>
      <p:sp>
        <p:nvSpPr>
          <p:cNvPr id="15" name="Text 13"/>
          <p:cNvSpPr/>
          <p:nvPr/>
        </p:nvSpPr>
        <p:spPr>
          <a:xfrm>
            <a:off x="6675120" y="1536192"/>
            <a:ext cx="4572000" cy="164592"/>
          </a:xfrm>
          <a:prstGeom prst="rect">
            <a:avLst/>
          </a:prstGeom>
          <a:noFill/>
          <a:ln/>
        </p:spPr>
        <p:txBody>
          <a:bodyPr wrap="square" lIns="0" tIns="0" rIns="0" bIns="0" rtlCol="0" anchor="ctr"/>
          <a:lstStyle/>
          <a:p>
            <a:pPr marL="0" indent="0" algn="ctr">
              <a:buNone/>
            </a:pPr>
            <a:r>
              <a:rPr lang="en-US" sz="1500" b="1" dirty="0">
                <a:solidFill>
                  <a:srgbClr val="FFFFFF"/>
                </a:solidFill>
              </a:rPr>
              <a:t>Choose Logic Apps when…</a:t>
            </a:r>
            <a:endParaRPr lang="en-US" sz="1500" dirty="0"/>
          </a:p>
        </p:txBody>
      </p:sp>
      <p:sp>
        <p:nvSpPr>
          <p:cNvPr id="16" name="Text 14"/>
          <p:cNvSpPr/>
          <p:nvPr/>
        </p:nvSpPr>
        <p:spPr>
          <a:xfrm>
            <a:off x="6675120" y="2240280"/>
            <a:ext cx="4343400" cy="1508760"/>
          </a:xfrm>
          <a:prstGeom prst="rect">
            <a:avLst/>
          </a:prstGeom>
          <a:noFill/>
          <a:ln/>
        </p:spPr>
        <p:txBody>
          <a:bodyPr wrap="square" lIns="254" tIns="254" rIns="254" bIns="254" rtlCol="0" anchor="ctr"/>
          <a:lstStyle/>
          <a:p>
            <a:pPr marL="0" indent="0">
              <a:buNone/>
            </a:pPr>
            <a:r>
              <a:rPr lang="en-US" sz="1600" dirty="0">
                <a:solidFill>
                  <a:srgbClr val="1F2937"/>
                </a:solidFill>
              </a:rPr>
              <a:t>• Workflow is integration-heavy</a:t>
            </a:r>
            <a:endParaRPr lang="en-US" sz="1600" dirty="0"/>
          </a:p>
          <a:p>
            <a:pPr marL="0" indent="0">
              <a:buNone/>
            </a:pPr>
            <a:r>
              <a:rPr lang="en-US" sz="1600" dirty="0">
                <a:solidFill>
                  <a:srgbClr val="1F2937"/>
                </a:solidFill>
              </a:rPr>
              <a:t>• Business/ops users need visibility</a:t>
            </a:r>
            <a:endParaRPr lang="en-US" sz="1600" dirty="0"/>
          </a:p>
          <a:p>
            <a:pPr marL="0" indent="0">
              <a:buNone/>
            </a:pPr>
            <a:r>
              <a:rPr lang="en-US" sz="1600" dirty="0">
                <a:solidFill>
                  <a:srgbClr val="1F2937"/>
                </a:solidFill>
              </a:rPr>
              <a:t>• Microsoft 365 connectors are central</a:t>
            </a:r>
            <a:endParaRPr lang="en-US" sz="1600" dirty="0"/>
          </a:p>
          <a:p>
            <a:pPr marL="0" indent="0">
              <a:buNone/>
            </a:pPr>
            <a:r>
              <a:rPr lang="en-US" sz="1600" dirty="0">
                <a:solidFill>
                  <a:srgbClr val="1F2937"/>
                </a:solidFill>
              </a:rPr>
              <a:t>• Rapid visual changes are useful</a:t>
            </a:r>
            <a:endParaRPr lang="en-US" sz="1600" dirty="0"/>
          </a:p>
          <a:p>
            <a:pPr marL="0" indent="0">
              <a:buNone/>
            </a:pPr>
            <a:r>
              <a:rPr lang="en-US" sz="1600" dirty="0">
                <a:solidFill>
                  <a:srgbClr val="1F2937"/>
                </a:solidFill>
              </a:rPr>
              <a:t>• Run history matters for demos/audits</a:t>
            </a:r>
            <a:endParaRPr lang="en-US" sz="1600" dirty="0"/>
          </a:p>
        </p:txBody>
      </p:sp>
      <p:sp>
        <p:nvSpPr>
          <p:cNvPr id="17" name="Shape 15"/>
          <p:cNvSpPr/>
          <p:nvPr/>
        </p:nvSpPr>
        <p:spPr>
          <a:xfrm>
            <a:off x="7086600" y="4892040"/>
            <a:ext cx="3749040" cy="310896"/>
          </a:xfrm>
          <a:prstGeom prst="roundRect">
            <a:avLst>
              <a:gd name="adj" fmla="val 23529"/>
            </a:avLst>
          </a:prstGeom>
          <a:solidFill>
            <a:srgbClr val="EAF7EA"/>
          </a:solidFill>
          <a:ln w="12700">
            <a:solidFill>
              <a:srgbClr val="107C10"/>
            </a:solidFill>
            <a:prstDash val="solid"/>
          </a:ln>
        </p:spPr>
      </p:sp>
      <p:sp>
        <p:nvSpPr>
          <p:cNvPr id="18" name="Text 16"/>
          <p:cNvSpPr/>
          <p:nvPr/>
        </p:nvSpPr>
        <p:spPr>
          <a:xfrm>
            <a:off x="7178040" y="4960620"/>
            <a:ext cx="3566160" cy="146304"/>
          </a:xfrm>
          <a:prstGeom prst="rect">
            <a:avLst/>
          </a:prstGeom>
          <a:noFill/>
          <a:ln/>
        </p:spPr>
        <p:txBody>
          <a:bodyPr wrap="square" lIns="0" tIns="0" rIns="0" bIns="0" rtlCol="0" anchor="ctr"/>
          <a:lstStyle/>
          <a:p>
            <a:pPr marL="0" indent="0" algn="ctr">
              <a:buNone/>
            </a:pPr>
            <a:r>
              <a:rPr lang="en-US" sz="1600" b="1" dirty="0">
                <a:solidFill>
                  <a:srgbClr val="107C10"/>
                </a:solidFill>
              </a:rPr>
              <a:t>Strong choice for visual integration</a:t>
            </a:r>
            <a:endParaRPr lang="en-US" sz="1600" dirty="0"/>
          </a:p>
        </p:txBody>
      </p:sp>
      <p:sp>
        <p:nvSpPr>
          <p:cNvPr id="20" name="Text 17"/>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5" name="Text 3"/>
          <p:cNvSpPr/>
          <p:nvPr/>
        </p:nvSpPr>
        <p:spPr>
          <a:xfrm>
            <a:off x="502920" y="320040"/>
            <a:ext cx="8961120" cy="457200"/>
          </a:xfrm>
          <a:prstGeom prst="rect">
            <a:avLst/>
          </a:prstGeom>
          <a:noFill/>
          <a:ln/>
        </p:spPr>
        <p:txBody>
          <a:bodyPr wrap="square" lIns="0" tIns="0" rIns="0" bIns="0" rtlCol="0" anchor="ctr"/>
          <a:lstStyle/>
          <a:p>
            <a:pPr marL="0" indent="0">
              <a:buNone/>
            </a:pPr>
            <a:r>
              <a:rPr lang="en-US" sz="3000" b="1" dirty="0">
                <a:solidFill>
                  <a:srgbClr val="0B1F33"/>
                </a:solidFill>
                <a:latin typeface="Aptos Display" pitchFamily="34" charset="0"/>
                <a:ea typeface="Aptos Display" pitchFamily="34" charset="-122"/>
                <a:cs typeface="Aptos Display" pitchFamily="34" charset="-120"/>
              </a:rPr>
              <a:t>Lessons learned</a:t>
            </a:r>
            <a:endParaRPr lang="en-US" sz="3000" dirty="0"/>
          </a:p>
        </p:txBody>
      </p:sp>
      <p:sp>
        <p:nvSpPr>
          <p:cNvPr id="10" name="Shape 8"/>
          <p:cNvSpPr/>
          <p:nvPr/>
        </p:nvSpPr>
        <p:spPr>
          <a:xfrm>
            <a:off x="914400" y="1401215"/>
            <a:ext cx="4754880" cy="1417320"/>
          </a:xfrm>
          <a:prstGeom prst="roundRect">
            <a:avLst>
              <a:gd name="adj" fmla="val 7742"/>
            </a:avLst>
          </a:prstGeom>
          <a:solidFill>
            <a:srgbClr val="EAF4FF"/>
          </a:solidFill>
          <a:ln w="12700">
            <a:solidFill>
              <a:srgbClr val="0078D4"/>
            </a:solidFill>
            <a:prstDash val="solid"/>
          </a:ln>
        </p:spPr>
      </p:sp>
      <p:sp>
        <p:nvSpPr>
          <p:cNvPr id="11" name="Text 9"/>
          <p:cNvSpPr/>
          <p:nvPr/>
        </p:nvSpPr>
        <p:spPr>
          <a:xfrm>
            <a:off x="1143000" y="1629815"/>
            <a:ext cx="4206240" cy="219456"/>
          </a:xfrm>
          <a:prstGeom prst="rect">
            <a:avLst/>
          </a:prstGeom>
          <a:noFill/>
          <a:ln/>
        </p:spPr>
        <p:txBody>
          <a:bodyPr wrap="square" lIns="0" tIns="0" rIns="0" bIns="0" rtlCol="0" anchor="ctr"/>
          <a:lstStyle/>
          <a:p>
            <a:pPr marL="0" indent="0">
              <a:buNone/>
            </a:pPr>
            <a:r>
              <a:rPr lang="en-US" sz="1500" b="1" dirty="0">
                <a:solidFill>
                  <a:srgbClr val="0B1F33"/>
                </a:solidFill>
              </a:rPr>
              <a:t>Properties matter</a:t>
            </a:r>
            <a:endParaRPr lang="en-US" sz="1500" dirty="0"/>
          </a:p>
        </p:txBody>
      </p:sp>
      <p:sp>
        <p:nvSpPr>
          <p:cNvPr id="12" name="Text 10"/>
          <p:cNvSpPr/>
          <p:nvPr/>
        </p:nvSpPr>
        <p:spPr>
          <a:xfrm>
            <a:off x="1143000" y="2087015"/>
            <a:ext cx="4251960" cy="347472"/>
          </a:xfrm>
          <a:prstGeom prst="rect">
            <a:avLst/>
          </a:prstGeom>
          <a:noFill/>
          <a:ln/>
        </p:spPr>
        <p:txBody>
          <a:bodyPr wrap="square" lIns="0" tIns="0" rIns="0" bIns="0" rtlCol="0" anchor="ctr">
            <a:normAutofit/>
          </a:bodyPr>
          <a:lstStyle/>
          <a:p>
            <a:pPr marL="0" indent="0">
              <a:buNone/>
            </a:pPr>
            <a:r>
              <a:rPr lang="en-US" sz="1080" dirty="0">
                <a:solidFill>
                  <a:srgbClr val="1F2937"/>
                </a:solidFill>
              </a:rPr>
              <a:t>Service Bus filters need application properties, not just JSON body fields.</a:t>
            </a:r>
            <a:endParaRPr lang="en-US" sz="1080" dirty="0"/>
          </a:p>
        </p:txBody>
      </p:sp>
      <p:sp>
        <p:nvSpPr>
          <p:cNvPr id="13" name="Shape 11"/>
          <p:cNvSpPr/>
          <p:nvPr/>
        </p:nvSpPr>
        <p:spPr>
          <a:xfrm>
            <a:off x="914400" y="3657600"/>
            <a:ext cx="4754880" cy="1417320"/>
          </a:xfrm>
          <a:prstGeom prst="roundRect">
            <a:avLst>
              <a:gd name="adj" fmla="val 7742"/>
            </a:avLst>
          </a:prstGeom>
          <a:solidFill>
            <a:srgbClr val="F3EEFA"/>
          </a:solidFill>
          <a:ln w="12700">
            <a:solidFill>
              <a:srgbClr val="5C2D91"/>
            </a:solidFill>
            <a:prstDash val="solid"/>
          </a:ln>
        </p:spPr>
      </p:sp>
      <p:sp>
        <p:nvSpPr>
          <p:cNvPr id="14" name="Text 12"/>
          <p:cNvSpPr/>
          <p:nvPr/>
        </p:nvSpPr>
        <p:spPr>
          <a:xfrm>
            <a:off x="1143000" y="3886200"/>
            <a:ext cx="4206240" cy="219456"/>
          </a:xfrm>
          <a:prstGeom prst="rect">
            <a:avLst/>
          </a:prstGeom>
          <a:noFill/>
          <a:ln/>
        </p:spPr>
        <p:txBody>
          <a:bodyPr wrap="square" lIns="0" tIns="0" rIns="0" bIns="0" rtlCol="0" anchor="ctr"/>
          <a:lstStyle/>
          <a:p>
            <a:pPr marL="0" indent="0">
              <a:buNone/>
            </a:pPr>
            <a:r>
              <a:rPr lang="en-US" sz="1500" b="1" dirty="0">
                <a:solidFill>
                  <a:srgbClr val="0B1F33"/>
                </a:solidFill>
              </a:rPr>
              <a:t>Logic Apps still needs design</a:t>
            </a:r>
            <a:endParaRPr lang="en-US" sz="1500" dirty="0"/>
          </a:p>
        </p:txBody>
      </p:sp>
      <p:sp>
        <p:nvSpPr>
          <p:cNvPr id="15" name="Text 13"/>
          <p:cNvSpPr/>
          <p:nvPr/>
        </p:nvSpPr>
        <p:spPr>
          <a:xfrm>
            <a:off x="1143000" y="4343400"/>
            <a:ext cx="4251960" cy="347472"/>
          </a:xfrm>
          <a:prstGeom prst="rect">
            <a:avLst/>
          </a:prstGeom>
          <a:noFill/>
          <a:ln/>
        </p:spPr>
        <p:txBody>
          <a:bodyPr wrap="square" lIns="0" tIns="0" rIns="0" bIns="0" rtlCol="0" anchor="ctr">
            <a:normAutofit/>
          </a:bodyPr>
          <a:lstStyle/>
          <a:p>
            <a:pPr marL="0" indent="0">
              <a:buNone/>
            </a:pPr>
            <a:r>
              <a:rPr lang="en-US" sz="1080" dirty="0">
                <a:solidFill>
                  <a:srgbClr val="1F2937"/>
                </a:solidFill>
              </a:rPr>
              <a:t>Run-after rules and merge actions determine whether the workflow is technically successful.</a:t>
            </a:r>
            <a:endParaRPr lang="en-US" sz="1080" dirty="0"/>
          </a:p>
        </p:txBody>
      </p:sp>
      <p:sp>
        <p:nvSpPr>
          <p:cNvPr id="19" name="Text 17"/>
          <p:cNvSpPr/>
          <p:nvPr/>
        </p:nvSpPr>
        <p:spPr>
          <a:xfrm>
            <a:off x="1051560" y="5715000"/>
            <a:ext cx="10058400" cy="219456"/>
          </a:xfrm>
          <a:prstGeom prst="rect">
            <a:avLst/>
          </a:prstGeom>
          <a:noFill/>
          <a:ln/>
        </p:spPr>
        <p:txBody>
          <a:bodyPr wrap="square" lIns="0" tIns="0" rIns="0" bIns="0" rtlCol="0" anchor="ctr"/>
          <a:lstStyle/>
          <a:p>
            <a:pPr marL="0" indent="0" algn="ctr">
              <a:buNone/>
            </a:pPr>
            <a:r>
              <a:rPr lang="en-US" sz="1200" b="1" dirty="0">
                <a:solidFill>
                  <a:srgbClr val="0B1F33"/>
                </a:solidFill>
              </a:rPr>
              <a:t>What I would improve next: add automated tests, stronger retry policies, production-grade approval audit storage, and longer timeout settings.</a:t>
            </a:r>
            <a:endParaRPr lang="en-US" sz="1200" dirty="0"/>
          </a:p>
        </p:txBody>
      </p:sp>
      <p:sp>
        <p:nvSpPr>
          <p:cNvPr id="21" name="Text 18"/>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D"/>
        </a:solidFill>
        <a:effectLst/>
      </p:bgPr>
    </p:bg>
    <p:spTree>
      <p:nvGrpSpPr>
        <p:cNvPr id="1" name=""/>
        <p:cNvGrpSpPr/>
        <p:nvPr/>
      </p:nvGrpSpPr>
      <p:grpSpPr>
        <a:xfrm>
          <a:off x="0" y="0"/>
          <a:ext cx="0" cy="0"/>
          <a:chOff x="0" y="0"/>
          <a:chExt cx="0" cy="0"/>
        </a:xfrm>
      </p:grpSpPr>
      <p:sp>
        <p:nvSpPr>
          <p:cNvPr id="3" name="Shape 1"/>
          <p:cNvSpPr/>
          <p:nvPr/>
        </p:nvSpPr>
        <p:spPr>
          <a:xfrm>
            <a:off x="0" y="0"/>
            <a:ext cx="12191695" cy="164592"/>
          </a:xfrm>
          <a:prstGeom prst="rect">
            <a:avLst/>
          </a:prstGeom>
          <a:solidFill>
            <a:srgbClr val="0078D4"/>
          </a:solidFill>
          <a:ln w="12700">
            <a:solidFill>
              <a:srgbClr val="0078D4"/>
            </a:solidFill>
            <a:prstDash val="solid"/>
          </a:ln>
        </p:spPr>
      </p:sp>
      <p:sp>
        <p:nvSpPr>
          <p:cNvPr id="4" name="Shape 2"/>
          <p:cNvSpPr/>
          <p:nvPr/>
        </p:nvSpPr>
        <p:spPr>
          <a:xfrm>
            <a:off x="0" y="6748272"/>
            <a:ext cx="12191695" cy="109728"/>
          </a:xfrm>
          <a:prstGeom prst="rect">
            <a:avLst/>
          </a:prstGeom>
          <a:solidFill>
            <a:srgbClr val="0B1F33"/>
          </a:solidFill>
          <a:ln w="12700">
            <a:solidFill>
              <a:srgbClr val="0B1F33"/>
            </a:solidFill>
            <a:prstDash val="solid"/>
          </a:ln>
        </p:spPr>
      </p:sp>
      <p:sp>
        <p:nvSpPr>
          <p:cNvPr id="13" name="Text 11"/>
          <p:cNvSpPr/>
          <p:nvPr/>
        </p:nvSpPr>
        <p:spPr>
          <a:xfrm>
            <a:off x="3594463" y="3200400"/>
            <a:ext cx="5003074" cy="457200"/>
          </a:xfrm>
          <a:prstGeom prst="rect">
            <a:avLst/>
          </a:prstGeom>
          <a:noFill/>
          <a:ln/>
        </p:spPr>
        <p:txBody>
          <a:bodyPr wrap="square" lIns="0" tIns="0" rIns="0" bIns="0" rtlCol="0" anchor="ctr"/>
          <a:lstStyle/>
          <a:p>
            <a:pPr marL="0" indent="0" algn="ctr">
              <a:buNone/>
            </a:pPr>
            <a:r>
              <a:rPr lang="en-US" sz="6000" b="1" dirty="0">
                <a:solidFill>
                  <a:srgbClr val="0078D4"/>
                </a:solidFill>
                <a:latin typeface="Aptos Display" pitchFamily="34" charset="0"/>
                <a:ea typeface="Aptos Display" pitchFamily="34" charset="-122"/>
                <a:cs typeface="Aptos Display" pitchFamily="34" charset="-120"/>
              </a:rPr>
              <a:t>Thank you</a:t>
            </a:r>
            <a:endParaRPr lang="en-US" sz="6000" dirty="0"/>
          </a:p>
        </p:txBody>
      </p:sp>
      <p:sp>
        <p:nvSpPr>
          <p:cNvPr id="16" name="Text 13"/>
          <p:cNvSpPr/>
          <p:nvPr/>
        </p:nvSpPr>
        <p:spPr>
          <a:xfrm>
            <a:off x="502920" y="6528816"/>
            <a:ext cx="4114800" cy="164592"/>
          </a:xfrm>
          <a:prstGeom prst="rect">
            <a:avLst/>
          </a:prstGeom>
          <a:noFill/>
          <a:ln/>
        </p:spPr>
        <p:txBody>
          <a:bodyPr wrap="square" lIns="0" tIns="0" rIns="0" bIns="0" rtlCol="0" anchor="ctr"/>
          <a:lstStyle/>
          <a:p>
            <a:pPr marL="0" indent="0">
              <a:buNone/>
            </a:pPr>
            <a:r>
              <a:rPr lang="en-US" sz="750" dirty="0">
                <a:solidFill>
                  <a:srgbClr val="FFFFFF"/>
                </a:solidFill>
              </a:rPr>
              <a:t>CST8917 Assignment 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1658</TotalTime>
  <Words>1287</Words>
  <Application>Microsoft Office PowerPoint</Application>
  <PresentationFormat>Widescreen</PresentationFormat>
  <Paragraphs>215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Algonquin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Dual Implementation of an Expense Approval Workflow</dc:title>
  <dc:subject>CST8917 Assignment 2 Presentation</dc:subject>
  <dc:creator>Khalid Amchat</dc:creator>
  <cp:lastModifiedBy>Khalid Amchat</cp:lastModifiedBy>
  <cp:revision>2</cp:revision>
  <dcterms:created xsi:type="dcterms:W3CDTF">2026-08-08T15:51:40Z</dcterms:created>
  <dcterms:modified xsi:type="dcterms:W3CDTF">2026-08-10T04:37:25Z</dcterms:modified>
</cp:coreProperties>
</file>